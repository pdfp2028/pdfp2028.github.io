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20"/>
  </p:notesMasterIdLst>
  <p:handoutMasterIdLst>
    <p:handoutMasterId r:id="rId21"/>
  </p:handoutMasterIdLst>
  <p:sldIdLst>
    <p:sldId id="316" r:id="rId2"/>
    <p:sldId id="307" r:id="rId3"/>
    <p:sldId id="321" r:id="rId4"/>
    <p:sldId id="310" r:id="rId5"/>
    <p:sldId id="322" r:id="rId6"/>
    <p:sldId id="309" r:id="rId7"/>
    <p:sldId id="325" r:id="rId8"/>
    <p:sldId id="311" r:id="rId9"/>
    <p:sldId id="312" r:id="rId10"/>
    <p:sldId id="313" r:id="rId11"/>
    <p:sldId id="323" r:id="rId12"/>
    <p:sldId id="327" r:id="rId13"/>
    <p:sldId id="317" r:id="rId14"/>
    <p:sldId id="324" r:id="rId15"/>
    <p:sldId id="318" r:id="rId16"/>
    <p:sldId id="319" r:id="rId17"/>
    <p:sldId id="320" r:id="rId18"/>
    <p:sldId id="326" r:id="rId19"/>
  </p:sldIdLst>
  <p:sldSz cx="12192000" cy="6858000"/>
  <p:notesSz cx="6858000" cy="93138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rgbClr val="7F7F7F"/>
        </a:solidFill>
        <a:latin typeface="Calibri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rgbClr val="7F7F7F"/>
        </a:solidFill>
        <a:latin typeface="Calibri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rgbClr val="7F7F7F"/>
        </a:solidFill>
        <a:latin typeface="Calibri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rgbClr val="7F7F7F"/>
        </a:solidFill>
        <a:latin typeface="Calibri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rgbClr val="7F7F7F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rgbClr val="7F7F7F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rgbClr val="7F7F7F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rgbClr val="7F7F7F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rgbClr val="7F7F7F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56" autoAdjust="0"/>
    <p:restoredTop sz="81477" autoAdjust="0"/>
  </p:normalViewPr>
  <p:slideViewPr>
    <p:cSldViewPr snapToGrid="0">
      <p:cViewPr varScale="1">
        <p:scale>
          <a:sx n="90" d="100"/>
          <a:sy n="90" d="100"/>
        </p:scale>
        <p:origin x="642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ich, Dan" userId="df757991-8e7e-4f0f-beb9-1109d50f428b" providerId="ADAL" clId="{2F14D700-A1C9-4AD7-810B-B83652107FFC}"/>
    <pc:docChg chg="undo redo custSel modSld">
      <pc:chgData name="Tomich, Dan" userId="df757991-8e7e-4f0f-beb9-1109d50f428b" providerId="ADAL" clId="{2F14D700-A1C9-4AD7-810B-B83652107FFC}" dt="2026-08-27T19:52:58.820" v="2568" actId="20577"/>
      <pc:docMkLst>
        <pc:docMk/>
      </pc:docMkLst>
      <pc:sldChg chg="modSp mod modNotesTx">
        <pc:chgData name="Tomich, Dan" userId="df757991-8e7e-4f0f-beb9-1109d50f428b" providerId="ADAL" clId="{2F14D700-A1C9-4AD7-810B-B83652107FFC}" dt="2026-08-26T18:46:54.885" v="2250" actId="20577"/>
        <pc:sldMkLst>
          <pc:docMk/>
          <pc:sldMk cId="0" sldId="307"/>
        </pc:sldMkLst>
        <pc:spChg chg="mod">
          <ac:chgData name="Tomich, Dan" userId="df757991-8e7e-4f0f-beb9-1109d50f428b" providerId="ADAL" clId="{2F14D700-A1C9-4AD7-810B-B83652107FFC}" dt="2026-08-25T16:38:42.622" v="416" actId="114"/>
          <ac:spMkLst>
            <pc:docMk/>
            <pc:sldMk cId="0" sldId="307"/>
            <ac:spMk id="73731" creationId="{00000000-0000-0000-0000-000000000000}"/>
          </ac:spMkLst>
        </pc:spChg>
      </pc:sldChg>
      <pc:sldChg chg="modSp mod addAnim delAnim modAnim modNotesTx">
        <pc:chgData name="Tomich, Dan" userId="df757991-8e7e-4f0f-beb9-1109d50f428b" providerId="ADAL" clId="{2F14D700-A1C9-4AD7-810B-B83652107FFC}" dt="2026-08-25T20:24:17.841" v="2028" actId="20577"/>
        <pc:sldMkLst>
          <pc:docMk/>
          <pc:sldMk cId="0" sldId="309"/>
        </pc:sldMkLst>
        <pc:spChg chg="mod">
          <ac:chgData name="Tomich, Dan" userId="df757991-8e7e-4f0f-beb9-1109d50f428b" providerId="ADAL" clId="{2F14D700-A1C9-4AD7-810B-B83652107FFC}" dt="2026-08-25T19:26:26.093" v="1111" actId="20577"/>
          <ac:spMkLst>
            <pc:docMk/>
            <pc:sldMk cId="0" sldId="309"/>
            <ac:spMk id="77827" creationId="{00000000-0000-0000-0000-000000000000}"/>
          </ac:spMkLst>
        </pc:spChg>
      </pc:sldChg>
      <pc:sldChg chg="modSp mod addAnim delAnim modAnim modNotesTx">
        <pc:chgData name="Tomich, Dan" userId="df757991-8e7e-4f0f-beb9-1109d50f428b" providerId="ADAL" clId="{2F14D700-A1C9-4AD7-810B-B83652107FFC}" dt="2026-08-27T16:05:28.436" v="2356" actId="20577"/>
        <pc:sldMkLst>
          <pc:docMk/>
          <pc:sldMk cId="0" sldId="310"/>
        </pc:sldMkLst>
        <pc:spChg chg="mod">
          <ac:chgData name="Tomich, Dan" userId="df757991-8e7e-4f0f-beb9-1109d50f428b" providerId="ADAL" clId="{2F14D700-A1C9-4AD7-810B-B83652107FFC}" dt="2026-08-26T17:22:10.647" v="2234" actId="20577"/>
          <ac:spMkLst>
            <pc:docMk/>
            <pc:sldMk cId="0" sldId="310"/>
            <ac:spMk id="80899" creationId="{00000000-0000-0000-0000-000000000000}"/>
          </ac:spMkLst>
        </pc:spChg>
      </pc:sldChg>
      <pc:sldChg chg="modSp addAnim delAnim modAnim modNotesTx">
        <pc:chgData name="Tomich, Dan" userId="df757991-8e7e-4f0f-beb9-1109d50f428b" providerId="ADAL" clId="{2F14D700-A1C9-4AD7-810B-B83652107FFC}" dt="2026-08-26T19:05:05.603" v="2335" actId="20577"/>
        <pc:sldMkLst>
          <pc:docMk/>
          <pc:sldMk cId="0" sldId="311"/>
        </pc:sldMkLst>
        <pc:spChg chg="mod">
          <ac:chgData name="Tomich, Dan" userId="df757991-8e7e-4f0f-beb9-1109d50f428b" providerId="ADAL" clId="{2F14D700-A1C9-4AD7-810B-B83652107FFC}" dt="2026-08-26T19:03:28.742" v="2333" actId="114"/>
          <ac:spMkLst>
            <pc:docMk/>
            <pc:sldMk cId="0" sldId="311"/>
            <ac:spMk id="82947" creationId="{00000000-0000-0000-0000-000000000000}"/>
          </ac:spMkLst>
        </pc:spChg>
      </pc:sldChg>
      <pc:sldChg chg="modSp mod addAnim delAnim modAnim modNotesTx">
        <pc:chgData name="Tomich, Dan" userId="df757991-8e7e-4f0f-beb9-1109d50f428b" providerId="ADAL" clId="{2F14D700-A1C9-4AD7-810B-B83652107FFC}" dt="2026-08-25T20:25:45.712" v="2071" actId="20577"/>
        <pc:sldMkLst>
          <pc:docMk/>
          <pc:sldMk cId="0" sldId="312"/>
        </pc:sldMkLst>
        <pc:spChg chg="mod">
          <ac:chgData name="Tomich, Dan" userId="df757991-8e7e-4f0f-beb9-1109d50f428b" providerId="ADAL" clId="{2F14D700-A1C9-4AD7-810B-B83652107FFC}" dt="2026-08-25T16:48:29.308" v="459" actId="114"/>
          <ac:spMkLst>
            <pc:docMk/>
            <pc:sldMk cId="0" sldId="312"/>
            <ac:spMk id="86019" creationId="{00000000-0000-0000-0000-000000000000}"/>
          </ac:spMkLst>
        </pc:spChg>
      </pc:sldChg>
      <pc:sldChg chg="addAnim delAnim modAnim modNotesTx">
        <pc:chgData name="Tomich, Dan" userId="df757991-8e7e-4f0f-beb9-1109d50f428b" providerId="ADAL" clId="{2F14D700-A1C9-4AD7-810B-B83652107FFC}" dt="2026-08-25T19:56:41.893" v="1527"/>
        <pc:sldMkLst>
          <pc:docMk/>
          <pc:sldMk cId="0" sldId="313"/>
        </pc:sldMkLst>
      </pc:sldChg>
      <pc:sldChg chg="modNotesTx">
        <pc:chgData name="Tomich, Dan" userId="df757991-8e7e-4f0f-beb9-1109d50f428b" providerId="ADAL" clId="{2F14D700-A1C9-4AD7-810B-B83652107FFC}" dt="2026-08-26T18:51:52.759" v="2327" actId="20577"/>
        <pc:sldMkLst>
          <pc:docMk/>
          <pc:sldMk cId="3943851351" sldId="316"/>
        </pc:sldMkLst>
      </pc:sldChg>
      <pc:sldChg chg="modSp mod addAnim delAnim modAnim modNotesTx">
        <pc:chgData name="Tomich, Dan" userId="df757991-8e7e-4f0f-beb9-1109d50f428b" providerId="ADAL" clId="{2F14D700-A1C9-4AD7-810B-B83652107FFC}" dt="2026-08-26T17:02:42.686" v="2207" actId="20577"/>
        <pc:sldMkLst>
          <pc:docMk/>
          <pc:sldMk cId="3005099731" sldId="317"/>
        </pc:sldMkLst>
        <pc:spChg chg="mod">
          <ac:chgData name="Tomich, Dan" userId="df757991-8e7e-4f0f-beb9-1109d50f428b" providerId="ADAL" clId="{2F14D700-A1C9-4AD7-810B-B83652107FFC}" dt="2026-08-25T17:34:28.876" v="728" actId="255"/>
          <ac:spMkLst>
            <pc:docMk/>
            <pc:sldMk cId="3005099731" sldId="317"/>
            <ac:spMk id="88067" creationId="{00000000-0000-0000-0000-000000000000}"/>
          </ac:spMkLst>
        </pc:spChg>
      </pc:sldChg>
      <pc:sldChg chg="addAnim delAnim modAnim modNotesTx">
        <pc:chgData name="Tomich, Dan" userId="df757991-8e7e-4f0f-beb9-1109d50f428b" providerId="ADAL" clId="{2F14D700-A1C9-4AD7-810B-B83652107FFC}" dt="2026-08-27T16:10:52.548" v="2389" actId="20577"/>
        <pc:sldMkLst>
          <pc:docMk/>
          <pc:sldMk cId="4065805564" sldId="318"/>
        </pc:sldMkLst>
      </pc:sldChg>
      <pc:sldChg chg="addAnim delAnim modAnim">
        <pc:chgData name="Tomich, Dan" userId="df757991-8e7e-4f0f-beb9-1109d50f428b" providerId="ADAL" clId="{2F14D700-A1C9-4AD7-810B-B83652107FFC}" dt="2026-08-25T20:22:16.626" v="2020"/>
        <pc:sldMkLst>
          <pc:docMk/>
          <pc:sldMk cId="3435962656" sldId="319"/>
        </pc:sldMkLst>
      </pc:sldChg>
      <pc:sldChg chg="modSp addAnim delAnim modAnim modNotesTx">
        <pc:chgData name="Tomich, Dan" userId="df757991-8e7e-4f0f-beb9-1109d50f428b" providerId="ADAL" clId="{2F14D700-A1C9-4AD7-810B-B83652107FFC}" dt="2026-08-27T19:52:58.820" v="2568" actId="20577"/>
        <pc:sldMkLst>
          <pc:docMk/>
          <pc:sldMk cId="88237223" sldId="320"/>
        </pc:sldMkLst>
        <pc:spChg chg="mod">
          <ac:chgData name="Tomich, Dan" userId="df757991-8e7e-4f0f-beb9-1109d50f428b" providerId="ADAL" clId="{2F14D700-A1C9-4AD7-810B-B83652107FFC}" dt="2026-08-26T19:30:47.033" v="2339" actId="20577"/>
          <ac:spMkLst>
            <pc:docMk/>
            <pc:sldMk cId="88237223" sldId="320"/>
            <ac:spMk id="88067" creationId="{00000000-0000-0000-0000-000000000000}"/>
          </ac:spMkLst>
        </pc:spChg>
      </pc:sldChg>
      <pc:sldChg chg="addAnim delAnim modAnim modNotesTx">
        <pc:chgData name="Tomich, Dan" userId="df757991-8e7e-4f0f-beb9-1109d50f428b" providerId="ADAL" clId="{2F14D700-A1C9-4AD7-810B-B83652107FFC}" dt="2026-08-25T20:05:32.971" v="1932" actId="20577"/>
        <pc:sldMkLst>
          <pc:docMk/>
          <pc:sldMk cId="1197631186" sldId="321"/>
        </pc:sldMkLst>
      </pc:sldChg>
      <pc:sldChg chg="modSp mod modNotesTx">
        <pc:chgData name="Tomich, Dan" userId="df757991-8e7e-4f0f-beb9-1109d50f428b" providerId="ADAL" clId="{2F14D700-A1C9-4AD7-810B-B83652107FFC}" dt="2026-08-27T16:07:43.298" v="2381" actId="20577"/>
        <pc:sldMkLst>
          <pc:docMk/>
          <pc:sldMk cId="2718770811" sldId="323"/>
        </pc:sldMkLst>
        <pc:spChg chg="mod">
          <ac:chgData name="Tomich, Dan" userId="df757991-8e7e-4f0f-beb9-1109d50f428b" providerId="ADAL" clId="{2F14D700-A1C9-4AD7-810B-B83652107FFC}" dt="2026-08-25T17:42:02.661" v="851" actId="20577"/>
          <ac:spMkLst>
            <pc:docMk/>
            <pc:sldMk cId="2718770811" sldId="323"/>
            <ac:spMk id="88067" creationId="{00000000-0000-0000-0000-000000000000}"/>
          </ac:spMkLst>
        </pc:spChg>
      </pc:sldChg>
      <pc:sldChg chg="modSp mod addAnim delAnim modAnim modNotesTx">
        <pc:chgData name="Tomich, Dan" userId="df757991-8e7e-4f0f-beb9-1109d50f428b" providerId="ADAL" clId="{2F14D700-A1C9-4AD7-810B-B83652107FFC}" dt="2026-08-25T19:57:28.457" v="1531"/>
        <pc:sldMkLst>
          <pc:docMk/>
          <pc:sldMk cId="2170555396" sldId="324"/>
        </pc:sldMkLst>
        <pc:spChg chg="mod">
          <ac:chgData name="Tomich, Dan" userId="df757991-8e7e-4f0f-beb9-1109d50f428b" providerId="ADAL" clId="{2F14D700-A1C9-4AD7-810B-B83652107FFC}" dt="2026-08-25T17:23:54.362" v="663" actId="14100"/>
          <ac:spMkLst>
            <pc:docMk/>
            <pc:sldMk cId="2170555396" sldId="324"/>
            <ac:spMk id="88067" creationId="{00000000-0000-0000-0000-000000000000}"/>
          </ac:spMkLst>
        </pc:spChg>
      </pc:sldChg>
      <pc:sldChg chg="addSp delSp modSp mod addAnim delAnim modAnim modNotesTx">
        <pc:chgData name="Tomich, Dan" userId="df757991-8e7e-4f0f-beb9-1109d50f428b" providerId="ADAL" clId="{2F14D700-A1C9-4AD7-810B-B83652107FFC}" dt="2026-08-25T20:24:30.612" v="2029" actId="20577"/>
        <pc:sldMkLst>
          <pc:docMk/>
          <pc:sldMk cId="3313296000" sldId="325"/>
        </pc:sldMkLst>
        <pc:spChg chg="add mod topLvl">
          <ac:chgData name="Tomich, Dan" userId="df757991-8e7e-4f0f-beb9-1109d50f428b" providerId="ADAL" clId="{2F14D700-A1C9-4AD7-810B-B83652107FFC}" dt="2026-08-25T16:29:42.773" v="211" actId="164"/>
          <ac:spMkLst>
            <pc:docMk/>
            <pc:sldMk cId="3313296000" sldId="325"/>
            <ac:spMk id="3" creationId="{594C3603-7E62-EAA7-0CFB-06304101B2BC}"/>
          </ac:spMkLst>
        </pc:spChg>
        <pc:spChg chg="mod">
          <ac:chgData name="Tomich, Dan" userId="df757991-8e7e-4f0f-beb9-1109d50f428b" providerId="ADAL" clId="{2F14D700-A1C9-4AD7-810B-B83652107FFC}" dt="2026-08-25T16:26:34.344" v="198" actId="20577"/>
          <ac:spMkLst>
            <pc:docMk/>
            <pc:sldMk cId="3313296000" sldId="325"/>
            <ac:spMk id="77827" creationId="{00000000-0000-0000-0000-000000000000}"/>
          </ac:spMkLst>
        </pc:spChg>
        <pc:grpChg chg="add mod">
          <ac:chgData name="Tomich, Dan" userId="df757991-8e7e-4f0f-beb9-1109d50f428b" providerId="ADAL" clId="{2F14D700-A1C9-4AD7-810B-B83652107FFC}" dt="2026-08-25T16:29:53.476" v="212" actId="1076"/>
          <ac:grpSpMkLst>
            <pc:docMk/>
            <pc:sldMk cId="3313296000" sldId="325"/>
            <ac:grpSpMk id="12" creationId="{0B777E99-5086-912A-CDF6-84D3D07461C4}"/>
          </ac:grpSpMkLst>
        </pc:grpChg>
        <pc:cxnChg chg="add mod ord topLvl">
          <ac:chgData name="Tomich, Dan" userId="df757991-8e7e-4f0f-beb9-1109d50f428b" providerId="ADAL" clId="{2F14D700-A1C9-4AD7-810B-B83652107FFC}" dt="2026-08-25T16:29:42.773" v="211" actId="164"/>
          <ac:cxnSpMkLst>
            <pc:docMk/>
            <pc:sldMk cId="3313296000" sldId="325"/>
            <ac:cxnSpMk id="8" creationId="{02346091-4039-2F70-B4AE-B16133219BDA}"/>
          </ac:cxnSpMkLst>
        </pc:cxnChg>
      </pc:sldChg>
      <pc:sldChg chg="modNotesTx">
        <pc:chgData name="Tomich, Dan" userId="df757991-8e7e-4f0f-beb9-1109d50f428b" providerId="ADAL" clId="{2F14D700-A1C9-4AD7-810B-B83652107FFC}" dt="2026-08-27T16:13:14.702" v="2426" actId="20577"/>
        <pc:sldMkLst>
          <pc:docMk/>
          <pc:sldMk cId="580887740" sldId="326"/>
        </pc:sldMkLst>
      </pc:sldChg>
      <pc:sldChg chg="modSp mod addAnim delAnim modAnim modNotesTx">
        <pc:chgData name="Tomich, Dan" userId="df757991-8e7e-4f0f-beb9-1109d50f428b" providerId="ADAL" clId="{2F14D700-A1C9-4AD7-810B-B83652107FFC}" dt="2026-08-25T19:56:51.472" v="1528"/>
        <pc:sldMkLst>
          <pc:docMk/>
          <pc:sldMk cId="3114261708" sldId="327"/>
        </pc:sldMkLst>
        <pc:spChg chg="mod">
          <ac:chgData name="Tomich, Dan" userId="df757991-8e7e-4f0f-beb9-1109d50f428b" providerId="ADAL" clId="{2F14D700-A1C9-4AD7-810B-B83652107FFC}" dt="2026-08-25T19:30:58.936" v="1181" actId="20577"/>
          <ac:spMkLst>
            <pc:docMk/>
            <pc:sldMk cId="3114261708" sldId="327"/>
            <ac:spMk id="88067" creationId="{5188BED5-0A38-1E09-9D3A-66C3E5DAD82D}"/>
          </ac:spMkLst>
        </pc:spChg>
      </pc:sldChg>
    </pc:docChg>
  </pc:docChgLst>
  <pc:docChgLst>
    <pc:chgData name="Tomich, Dan" userId="df757991-8e7e-4f0f-beb9-1109d50f428b" providerId="ADAL" clId="{183AF7EE-3FC4-4017-8BAF-8CEFC6B12BCB}"/>
    <pc:docChg chg="custSel addSld modSld">
      <pc:chgData name="Tomich, Dan" userId="df757991-8e7e-4f0f-beb9-1109d50f428b" providerId="ADAL" clId="{183AF7EE-3FC4-4017-8BAF-8CEFC6B12BCB}" dt="2026-08-25T03:55:17.188" v="1518" actId="6549"/>
      <pc:docMkLst>
        <pc:docMk/>
      </pc:docMkLst>
      <pc:sldChg chg="modSp mod modNotesTx">
        <pc:chgData name="Tomich, Dan" userId="df757991-8e7e-4f0f-beb9-1109d50f428b" providerId="ADAL" clId="{183AF7EE-3FC4-4017-8BAF-8CEFC6B12BCB}" dt="2026-08-25T03:55:17.188" v="1518" actId="6549"/>
        <pc:sldMkLst>
          <pc:docMk/>
          <pc:sldMk cId="0" sldId="307"/>
        </pc:sldMkLst>
        <pc:spChg chg="mod">
          <ac:chgData name="Tomich, Dan" userId="df757991-8e7e-4f0f-beb9-1109d50f428b" providerId="ADAL" clId="{183AF7EE-3FC4-4017-8BAF-8CEFC6B12BCB}" dt="2026-08-25T03:53:24.163" v="1410" actId="114"/>
          <ac:spMkLst>
            <pc:docMk/>
            <pc:sldMk cId="0" sldId="307"/>
            <ac:spMk id="73731" creationId="{00000000-0000-0000-0000-000000000000}"/>
          </ac:spMkLst>
        </pc:spChg>
      </pc:sldChg>
      <pc:sldChg chg="modSp mod">
        <pc:chgData name="Tomich, Dan" userId="df757991-8e7e-4f0f-beb9-1109d50f428b" providerId="ADAL" clId="{183AF7EE-3FC4-4017-8BAF-8CEFC6B12BCB}" dt="2026-08-25T03:12:19.497" v="780" actId="20577"/>
        <pc:sldMkLst>
          <pc:docMk/>
          <pc:sldMk cId="0" sldId="309"/>
        </pc:sldMkLst>
        <pc:spChg chg="mod">
          <ac:chgData name="Tomich, Dan" userId="df757991-8e7e-4f0f-beb9-1109d50f428b" providerId="ADAL" clId="{183AF7EE-3FC4-4017-8BAF-8CEFC6B12BCB}" dt="2026-08-25T03:12:19.497" v="780" actId="20577"/>
          <ac:spMkLst>
            <pc:docMk/>
            <pc:sldMk cId="0" sldId="309"/>
            <ac:spMk id="77827" creationId="{00000000-0000-0000-0000-000000000000}"/>
          </ac:spMkLst>
        </pc:spChg>
      </pc:sldChg>
      <pc:sldChg chg="modNotesTx">
        <pc:chgData name="Tomich, Dan" userId="df757991-8e7e-4f0f-beb9-1109d50f428b" providerId="ADAL" clId="{183AF7EE-3FC4-4017-8BAF-8CEFC6B12BCB}" dt="2026-08-25T03:44:08.035" v="1400" actId="20577"/>
        <pc:sldMkLst>
          <pc:docMk/>
          <pc:sldMk cId="0" sldId="310"/>
        </pc:sldMkLst>
      </pc:sldChg>
      <pc:sldChg chg="modSp mod">
        <pc:chgData name="Tomich, Dan" userId="df757991-8e7e-4f0f-beb9-1109d50f428b" providerId="ADAL" clId="{183AF7EE-3FC4-4017-8BAF-8CEFC6B12BCB}" dt="2026-08-25T03:07:39.621" v="774" actId="20577"/>
        <pc:sldMkLst>
          <pc:docMk/>
          <pc:sldMk cId="0" sldId="311"/>
        </pc:sldMkLst>
        <pc:spChg chg="mod">
          <ac:chgData name="Tomich, Dan" userId="df757991-8e7e-4f0f-beb9-1109d50f428b" providerId="ADAL" clId="{183AF7EE-3FC4-4017-8BAF-8CEFC6B12BCB}" dt="2026-08-25T03:07:39.621" v="774" actId="20577"/>
          <ac:spMkLst>
            <pc:docMk/>
            <pc:sldMk cId="0" sldId="311"/>
            <ac:spMk id="82947" creationId="{00000000-0000-0000-0000-000000000000}"/>
          </ac:spMkLst>
        </pc:spChg>
      </pc:sldChg>
      <pc:sldChg chg="modNotesTx">
        <pc:chgData name="Tomich, Dan" userId="df757991-8e7e-4f0f-beb9-1109d50f428b" providerId="ADAL" clId="{183AF7EE-3FC4-4017-8BAF-8CEFC6B12BCB}" dt="2026-08-25T03:27:31.282" v="1167" actId="20577"/>
        <pc:sldMkLst>
          <pc:docMk/>
          <pc:sldMk cId="0" sldId="313"/>
        </pc:sldMkLst>
      </pc:sldChg>
      <pc:sldChg chg="modNotesTx">
        <pc:chgData name="Tomich, Dan" userId="df757991-8e7e-4f0f-beb9-1109d50f428b" providerId="ADAL" clId="{183AF7EE-3FC4-4017-8BAF-8CEFC6B12BCB}" dt="2026-08-25T03:35:01.341" v="1367" actId="20577"/>
        <pc:sldMkLst>
          <pc:docMk/>
          <pc:sldMk cId="2718770811" sldId="323"/>
        </pc:sldMkLst>
      </pc:sldChg>
      <pc:sldChg chg="modNotesTx">
        <pc:chgData name="Tomich, Dan" userId="df757991-8e7e-4f0f-beb9-1109d50f428b" providerId="ADAL" clId="{183AF7EE-3FC4-4017-8BAF-8CEFC6B12BCB}" dt="2026-08-25T03:21:41.801" v="894" actId="20577"/>
        <pc:sldMkLst>
          <pc:docMk/>
          <pc:sldMk cId="2170555396" sldId="324"/>
        </pc:sldMkLst>
      </pc:sldChg>
      <pc:sldChg chg="addSp delSp modSp mod">
        <pc:chgData name="Tomich, Dan" userId="df757991-8e7e-4f0f-beb9-1109d50f428b" providerId="ADAL" clId="{183AF7EE-3FC4-4017-8BAF-8CEFC6B12BCB}" dt="2026-08-25T03:51:20.862" v="1408" actId="478"/>
        <pc:sldMkLst>
          <pc:docMk/>
          <pc:sldMk cId="3313296000" sldId="325"/>
        </pc:sldMkLst>
      </pc:sldChg>
      <pc:sldChg chg="modSp add mod modNotesTx">
        <pc:chgData name="Tomich, Dan" userId="df757991-8e7e-4f0f-beb9-1109d50f428b" providerId="ADAL" clId="{183AF7EE-3FC4-4017-8BAF-8CEFC6B12BCB}" dt="2026-08-25T03:18:23.247" v="795" actId="6549"/>
        <pc:sldMkLst>
          <pc:docMk/>
          <pc:sldMk cId="3114261708" sldId="327"/>
        </pc:sldMkLst>
        <pc:spChg chg="mod">
          <ac:chgData name="Tomich, Dan" userId="df757991-8e7e-4f0f-beb9-1109d50f428b" providerId="ADAL" clId="{183AF7EE-3FC4-4017-8BAF-8CEFC6B12BCB}" dt="2026-08-25T02:43:10.351" v="30" actId="20577"/>
          <ac:spMkLst>
            <pc:docMk/>
            <pc:sldMk cId="3114261708" sldId="327"/>
            <ac:spMk id="2" creationId="{8C8BCD93-3B6D-E108-DE04-291ACF3BC4D2}"/>
          </ac:spMkLst>
        </pc:spChg>
        <pc:spChg chg="mod">
          <ac:chgData name="Tomich, Dan" userId="df757991-8e7e-4f0f-beb9-1109d50f428b" providerId="ADAL" clId="{183AF7EE-3FC4-4017-8BAF-8CEFC6B12BCB}" dt="2026-08-25T03:13:42.729" v="794" actId="20577"/>
          <ac:spMkLst>
            <pc:docMk/>
            <pc:sldMk cId="3114261708" sldId="327"/>
            <ac:spMk id="88067" creationId="{5188BED5-0A38-1E09-9D3A-66C3E5DAD82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098" cy="465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7" tIns="45708" rIns="91417" bIns="45708" numCol="1" anchor="t" anchorCtr="0" compatLnSpc="1">
            <a:prstTxWarp prst="textNoShape">
              <a:avLst/>
            </a:prstTxWarp>
          </a:bodyPr>
          <a:lstStyle>
            <a:lvl1pPr defTabSz="912013">
              <a:lnSpc>
                <a:spcPct val="110000"/>
              </a:lnSpc>
              <a:spcBef>
                <a:spcPts val="1004"/>
              </a:spcBef>
              <a:buFont typeface="Arial" charset="0"/>
              <a:buNone/>
              <a:defRPr sz="1200">
                <a:solidFill>
                  <a:srgbClr val="222A35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414" y="1"/>
            <a:ext cx="2972098" cy="465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7" tIns="45708" rIns="91417" bIns="45708" numCol="1" anchor="t" anchorCtr="0" compatLnSpc="1">
            <a:prstTxWarp prst="textNoShape">
              <a:avLst/>
            </a:prstTxWarp>
          </a:bodyPr>
          <a:lstStyle>
            <a:lvl1pPr algn="r" defTabSz="912013">
              <a:lnSpc>
                <a:spcPct val="110000"/>
              </a:lnSpc>
              <a:spcBef>
                <a:spcPts val="1004"/>
              </a:spcBef>
              <a:buFont typeface="Arial" charset="0"/>
              <a:buNone/>
              <a:defRPr sz="1200">
                <a:solidFill>
                  <a:srgbClr val="222A35"/>
                </a:solidFill>
              </a:defRPr>
            </a:lvl1pPr>
          </a:lstStyle>
          <a:p>
            <a:pPr>
              <a:defRPr/>
            </a:pPr>
            <a:fld id="{1EFF9D1B-B634-4C8F-99A1-7A563A4ED0EE}" type="datetimeFigureOut">
              <a:rPr lang="en-US"/>
              <a:pPr>
                <a:defRPr/>
              </a:pPr>
              <a:t>8/27/2026</a:t>
            </a:fld>
            <a:endParaRPr lang="en-US" dirty="0"/>
          </a:p>
        </p:txBody>
      </p:sp>
      <p:sp>
        <p:nvSpPr>
          <p:cNvPr id="1003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7247"/>
            <a:ext cx="2972098" cy="465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7" tIns="45708" rIns="91417" bIns="45708" numCol="1" anchor="b" anchorCtr="0" compatLnSpc="1">
            <a:prstTxWarp prst="textNoShape">
              <a:avLst/>
            </a:prstTxWarp>
          </a:bodyPr>
          <a:lstStyle>
            <a:lvl1pPr defTabSz="912013">
              <a:lnSpc>
                <a:spcPct val="110000"/>
              </a:lnSpc>
              <a:spcBef>
                <a:spcPts val="1004"/>
              </a:spcBef>
              <a:buFont typeface="Arial" charset="0"/>
              <a:buNone/>
              <a:defRPr sz="1200">
                <a:solidFill>
                  <a:srgbClr val="222A35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03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414" y="8847247"/>
            <a:ext cx="2972098" cy="465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7" tIns="45708" rIns="91417" bIns="45708" numCol="1" anchor="b" anchorCtr="0" compatLnSpc="1">
            <a:prstTxWarp prst="textNoShape">
              <a:avLst/>
            </a:prstTxWarp>
          </a:bodyPr>
          <a:lstStyle>
            <a:lvl1pPr algn="r" defTabSz="912013">
              <a:lnSpc>
                <a:spcPct val="110000"/>
              </a:lnSpc>
              <a:spcBef>
                <a:spcPts val="1004"/>
              </a:spcBef>
              <a:buFont typeface="Arial" charset="0"/>
              <a:buNone/>
              <a:defRPr sz="1200">
                <a:solidFill>
                  <a:srgbClr val="222A35"/>
                </a:solidFill>
              </a:defRPr>
            </a:lvl1pPr>
          </a:lstStyle>
          <a:p>
            <a:pPr>
              <a:defRPr/>
            </a:pPr>
            <a:fld id="{DEC29E2F-57D6-4FD9-A22E-226ED0DE5FA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2098" cy="466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7" tIns="45708" rIns="91417" bIns="45708" numCol="1" anchor="t" anchorCtr="0" compatLnSpc="1">
            <a:prstTxWarp prst="textNoShape">
              <a:avLst/>
            </a:prstTxWarp>
          </a:bodyPr>
          <a:lstStyle>
            <a:lvl1pPr defTabSz="912013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414" y="0"/>
            <a:ext cx="2972098" cy="466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7" tIns="45708" rIns="91417" bIns="45708" numCol="1" anchor="t" anchorCtr="0" compatLnSpc="1">
            <a:prstTxWarp prst="textNoShape">
              <a:avLst/>
            </a:prstTxWarp>
          </a:bodyPr>
          <a:lstStyle>
            <a:lvl1pPr algn="r" defTabSz="912013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3181A11-4B4B-4775-A3DD-8A40127A0DA0}" type="datetimeFigureOut">
              <a:rPr lang="en-US"/>
              <a:pPr>
                <a:defRPr/>
              </a:pPr>
              <a:t>8/27/2026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7407" tIns="43704" rIns="87407" bIns="43704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6098" y="4481373"/>
            <a:ext cx="5485805" cy="3668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7" tIns="45708" rIns="91417" bIns="457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47246"/>
            <a:ext cx="2972098" cy="466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7" tIns="45708" rIns="91417" bIns="45708" numCol="1" anchor="b" anchorCtr="0" compatLnSpc="1">
            <a:prstTxWarp prst="textNoShape">
              <a:avLst/>
            </a:prstTxWarp>
          </a:bodyPr>
          <a:lstStyle>
            <a:lvl1pPr defTabSz="912013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414" y="8847246"/>
            <a:ext cx="2972098" cy="466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7" tIns="45708" rIns="91417" bIns="45708" numCol="1" anchor="b" anchorCtr="0" compatLnSpc="1">
            <a:prstTxWarp prst="textNoShape">
              <a:avLst/>
            </a:prstTxWarp>
          </a:bodyPr>
          <a:lstStyle>
            <a:lvl1pPr algn="r" defTabSz="912013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75B546D-3643-43AC-902B-B085166763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Ensure “that your homilies are not boring, that your homilies arrive directly in people’s hearts because </a:t>
            </a:r>
            <a:r>
              <a:rPr lang="en-US" sz="1200" b="1" i="1" dirty="0"/>
              <a:t>they flow from your heart</a:t>
            </a:r>
            <a:r>
              <a:rPr lang="en-US" sz="1200" dirty="0"/>
              <a:t>, because what you tell them is what you have in your heart.”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If you speak from your heart, your homilies will not be boring.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B546D-3643-43AC-902B-B085166763F1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845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6"/>
          <p:cNvSpPr txBox="1">
            <a:spLocks noGrp="1"/>
          </p:cNvSpPr>
          <p:nvPr/>
        </p:nvSpPr>
        <p:spPr bwMode="auto">
          <a:xfrm>
            <a:off x="3884414" y="8847246"/>
            <a:ext cx="2972098" cy="466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7" tIns="45708" rIns="91417" bIns="45708" anchor="b"/>
          <a:lstStyle/>
          <a:p>
            <a:pPr algn="r" defTabSz="912013"/>
            <a:fld id="{140DFD2B-D9B9-4FB1-B9D0-DD4BC20805FE}" type="slidenum">
              <a:rPr lang="en-US">
                <a:solidFill>
                  <a:schemeClr val="tx1"/>
                </a:solidFill>
              </a:rPr>
              <a:pPr algn="r" defTabSz="912013"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475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300" dirty="0"/>
              <a:t>Our homilies should enable people to recognize God’s action in their lives, to draw them to Christ, and to inspire them to go forth to live the Gospel message.</a:t>
            </a:r>
          </a:p>
          <a:p>
            <a:endParaRPr lang="en-US" sz="1300" dirty="0"/>
          </a:p>
          <a:p>
            <a:r>
              <a:rPr lang="en-US" sz="1300" dirty="0"/>
              <a:t>Our homilies should flow from our hearts formed by our own unique perspective of living the Gospel message.</a:t>
            </a:r>
          </a:p>
          <a:p>
            <a:endParaRPr lang="en-US" sz="1300" dirty="0"/>
          </a:p>
          <a:p>
            <a:endParaRPr lang="en-US" sz="13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Number Placeholder 6"/>
          <p:cNvSpPr txBox="1">
            <a:spLocks noGrp="1"/>
          </p:cNvSpPr>
          <p:nvPr/>
        </p:nvSpPr>
        <p:spPr bwMode="auto">
          <a:xfrm>
            <a:off x="3884414" y="8847246"/>
            <a:ext cx="2972098" cy="466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7" tIns="45708" rIns="91417" bIns="45708" anchor="b"/>
          <a:lstStyle/>
          <a:p>
            <a:pPr algn="r" defTabSz="912013"/>
            <a:fld id="{C0E48B19-6CB3-4988-BC46-8E1CB5D74BFD}" type="slidenum">
              <a:rPr lang="en-US">
                <a:solidFill>
                  <a:schemeClr val="tx1"/>
                </a:solidFill>
              </a:rPr>
              <a:pPr algn="r" defTabSz="912013"/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192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4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300" dirty="0"/>
              <a:t>We do not all have the same natural talent.  We must have the humility to recognize that there will be others who are better preachers.</a:t>
            </a:r>
          </a:p>
          <a:p>
            <a:endParaRPr lang="en-US" sz="1300" dirty="0"/>
          </a:p>
          <a:p>
            <a:r>
              <a:rPr lang="en-US" sz="1300" dirty="0"/>
              <a:t>Yet, with practice, patience, and using the method, we can all become good preachers.</a:t>
            </a:r>
          </a:p>
          <a:p>
            <a:endParaRPr lang="en-US" sz="1300" dirty="0"/>
          </a:p>
          <a:p>
            <a:r>
              <a:rPr lang="en-US" sz="1300" dirty="0"/>
              <a:t>Don’t take shortcuts or skip elements of the process.</a:t>
            </a:r>
          </a:p>
        </p:txBody>
      </p:sp>
    </p:spTree>
    <p:extLst>
      <p:ext uri="{BB962C8B-B14F-4D97-AF65-F5344CB8AC3E}">
        <p14:creationId xmlns:p14="http://schemas.microsoft.com/office/powerpoint/2010/main" val="1294625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Number Placeholder 6"/>
          <p:cNvSpPr txBox="1">
            <a:spLocks noGrp="1"/>
          </p:cNvSpPr>
          <p:nvPr/>
        </p:nvSpPr>
        <p:spPr bwMode="auto">
          <a:xfrm>
            <a:off x="3884414" y="8847246"/>
            <a:ext cx="2972098" cy="466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7" tIns="45708" rIns="91417" bIns="45708" anchor="b"/>
          <a:lstStyle/>
          <a:p>
            <a:pPr algn="r" defTabSz="912013"/>
            <a:fld id="{C0E48B19-6CB3-4988-BC46-8E1CB5D74BFD}" type="slidenum">
              <a:rPr lang="en-US">
                <a:solidFill>
                  <a:schemeClr val="tx1"/>
                </a:solidFill>
              </a:rPr>
              <a:pPr algn="r" defTabSz="912013"/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192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4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300" b="1" dirty="0"/>
              <a:t>One Week</a:t>
            </a:r>
            <a:r>
              <a:rPr lang="en-US" sz="1300" dirty="0"/>
              <a:t>:</a:t>
            </a:r>
          </a:p>
          <a:p>
            <a:r>
              <a:rPr lang="en-US" sz="1300" dirty="0"/>
              <a:t>If possible, don’t compress the process to less than a week.</a:t>
            </a:r>
          </a:p>
          <a:p>
            <a:endParaRPr lang="en-US" sz="1300" dirty="0"/>
          </a:p>
          <a:p>
            <a:r>
              <a:rPr lang="en-US" sz="1300" dirty="0"/>
              <a:t>I don’t recommend extending method across multiple weeks (can lose focus).</a:t>
            </a:r>
          </a:p>
          <a:p>
            <a:endParaRPr lang="en-US" sz="1300" dirty="0"/>
          </a:p>
          <a:p>
            <a:r>
              <a:rPr lang="en-US" sz="1300" dirty="0"/>
              <a:t>However, if too busy the week prior to preaching, you can prepare in earlier week (but review &amp; practice prior to delivery)</a:t>
            </a:r>
          </a:p>
          <a:p>
            <a:endParaRPr lang="en-US" sz="1300" dirty="0"/>
          </a:p>
          <a:p>
            <a:r>
              <a:rPr lang="en-US" sz="1300" b="1" dirty="0"/>
              <a:t>Takes Time</a:t>
            </a:r>
            <a:r>
              <a:rPr lang="en-US" sz="1300" dirty="0"/>
              <a:t>:</a:t>
            </a:r>
          </a:p>
          <a:p>
            <a:r>
              <a:rPr lang="en-US" sz="1300" dirty="0"/>
              <a:t>Preaching once a month at Sunday Mass extends the time it takes to discover and hone your style.</a:t>
            </a:r>
          </a:p>
          <a:p>
            <a:endParaRPr lang="en-US" sz="1300" dirty="0"/>
          </a:p>
          <a:p>
            <a:r>
              <a:rPr lang="en-US" sz="1300" dirty="0"/>
              <a:t>If possible, find opportunities to preach at daily Mass and communion services.</a:t>
            </a:r>
          </a:p>
          <a:p>
            <a:endParaRPr lang="en-US" sz="1300" dirty="0"/>
          </a:p>
          <a:p>
            <a:r>
              <a:rPr lang="en-US" sz="1300" dirty="0"/>
              <a:t>At 10 years a deacon, I have covered 110 of the possible 177 Sundays (62.15%).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Number Placeholder 6"/>
          <p:cNvSpPr txBox="1">
            <a:spLocks noGrp="1"/>
          </p:cNvSpPr>
          <p:nvPr/>
        </p:nvSpPr>
        <p:spPr bwMode="auto">
          <a:xfrm>
            <a:off x="3884414" y="8847246"/>
            <a:ext cx="2972098" cy="466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7" tIns="45708" rIns="91417" bIns="45708" anchor="b"/>
          <a:lstStyle/>
          <a:p>
            <a:pPr algn="r" defTabSz="912013"/>
            <a:fld id="{C0E48B19-6CB3-4988-BC46-8E1CB5D74BFD}" type="slidenum">
              <a:rPr lang="en-US">
                <a:solidFill>
                  <a:schemeClr val="tx1"/>
                </a:solidFill>
              </a:rPr>
              <a:pPr algn="r" defTabSz="912013"/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192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4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283846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6"/>
          <p:cNvSpPr txBox="1">
            <a:spLocks noGrp="1"/>
          </p:cNvSpPr>
          <p:nvPr/>
        </p:nvSpPr>
        <p:spPr bwMode="auto">
          <a:xfrm>
            <a:off x="3884414" y="8847246"/>
            <a:ext cx="2972098" cy="466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7" tIns="45708" rIns="91417" bIns="45708" anchor="b"/>
          <a:lstStyle/>
          <a:p>
            <a:pPr algn="r" defTabSz="912013"/>
            <a:fld id="{9545F024-5CBC-47CB-923F-5F3B3219A542}" type="slidenum">
              <a:rPr lang="en-US">
                <a:solidFill>
                  <a:schemeClr val="tx1"/>
                </a:solidFill>
              </a:rPr>
              <a:pPr algn="r" defTabSz="912013"/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885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2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300" dirty="0"/>
              <a:t>Reading just from the lectionary does not provide context and reading more than one translation can clarify meaning.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6"/>
          <p:cNvSpPr txBox="1">
            <a:spLocks noGrp="1"/>
          </p:cNvSpPr>
          <p:nvPr/>
        </p:nvSpPr>
        <p:spPr bwMode="auto">
          <a:xfrm>
            <a:off x="3884414" y="8847246"/>
            <a:ext cx="2972098" cy="466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7" tIns="45708" rIns="91417" bIns="45708" anchor="b"/>
          <a:lstStyle/>
          <a:p>
            <a:pPr algn="r" defTabSz="912013"/>
            <a:fld id="{9545F024-5CBC-47CB-923F-5F3B3219A542}" type="slidenum">
              <a:rPr lang="en-US">
                <a:solidFill>
                  <a:schemeClr val="tx1"/>
                </a:solidFill>
              </a:rPr>
              <a:pPr algn="r" defTabSz="912013"/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885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2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300" b="1" dirty="0"/>
              <a:t>Lectio Divina</a:t>
            </a:r>
            <a:r>
              <a:rPr lang="en-US" sz="1300" dirty="0"/>
              <a:t> (divine reading): during meditation, view text from various perspectives - it may help to imagine yourself in the scene.</a:t>
            </a:r>
          </a:p>
          <a:p>
            <a:endParaRPr lang="en-US" sz="1300" dirty="0"/>
          </a:p>
          <a:p>
            <a:r>
              <a:rPr lang="en-US" sz="1300" b="0" dirty="0"/>
              <a:t>Avoid </a:t>
            </a:r>
            <a:r>
              <a:rPr lang="en-US" sz="1300" b="1" i="1" dirty="0"/>
              <a:t>eisegesis</a:t>
            </a:r>
            <a:r>
              <a:rPr lang="en-US" sz="1300" b="0" dirty="0"/>
              <a:t> – reading into the Scripture to fit your ideas or your agenda.</a:t>
            </a:r>
          </a:p>
          <a:p>
            <a:endParaRPr lang="en-US" sz="1300" b="1" dirty="0"/>
          </a:p>
          <a:p>
            <a:r>
              <a:rPr lang="en-US" sz="1300" b="1" dirty="0"/>
              <a:t>Senses of Scripture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i="1" dirty="0"/>
              <a:t>Literal sense – </a:t>
            </a:r>
            <a:r>
              <a:rPr lang="en-US" sz="1300" dirty="0"/>
              <a:t>the meaning conveyed by the words of Scripture and discovered by exegesis, following the rules of sound interpretation.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i="1" dirty="0"/>
              <a:t>Spiritual sense – </a:t>
            </a:r>
            <a:r>
              <a:rPr lang="en-US" sz="1300" dirty="0"/>
              <a:t>the realities and events about which the Scripture speaks can be signs.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/>
              <a:t>The </a:t>
            </a:r>
            <a:r>
              <a:rPr lang="en-US" sz="1300" b="1" i="1" dirty="0"/>
              <a:t>allegorical</a:t>
            </a:r>
            <a:r>
              <a:rPr lang="en-US" sz="1300" dirty="0"/>
              <a:t> sense. We can acquire a more profound understanding of events by recognizing their significance in Christ; thus, the crossing of the Red Sea is a sign or type of Christ’s victory and also of Christian Baptism.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13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/>
              <a:t>The </a:t>
            </a:r>
            <a:r>
              <a:rPr lang="en-US" sz="1300" b="1" i="1" dirty="0"/>
              <a:t>moral</a:t>
            </a:r>
            <a:r>
              <a:rPr lang="en-US" sz="1300" dirty="0"/>
              <a:t> sense. The events reported in Scripture ought to lead us to act justly. As St. Paul says, they were written “for our instruction.”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13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/>
              <a:t>The </a:t>
            </a:r>
            <a:r>
              <a:rPr lang="en-US" sz="1300" b="1" i="1" dirty="0"/>
              <a:t>anagogical</a:t>
            </a:r>
            <a:r>
              <a:rPr lang="en-US" sz="1300" dirty="0"/>
              <a:t> sense (Greek: anagoge, “leading”). We can view realities and events in terms of their eternal significance, leading us toward our true homeland: thus, the Church on earth is a sign of the heavenly Jerusalem.</a:t>
            </a:r>
          </a:p>
          <a:p>
            <a:endParaRPr lang="en-US" sz="1300" dirty="0"/>
          </a:p>
          <a:p>
            <a:r>
              <a:rPr lang="en-US" sz="1300" dirty="0"/>
              <a:t>    The Letter speaks of deeds; Allegory to faith;</a:t>
            </a:r>
          </a:p>
          <a:p>
            <a:r>
              <a:rPr lang="en-US" sz="1300" dirty="0"/>
              <a:t>    The Moral how to act; Anagogy our destiny.</a:t>
            </a:r>
          </a:p>
          <a:p>
            <a:endParaRPr lang="en-US" sz="1300" dirty="0"/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9838411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Number Placeholder 6"/>
          <p:cNvSpPr txBox="1">
            <a:spLocks noGrp="1"/>
          </p:cNvSpPr>
          <p:nvPr/>
        </p:nvSpPr>
        <p:spPr bwMode="auto">
          <a:xfrm>
            <a:off x="3884414" y="8847246"/>
            <a:ext cx="2972098" cy="466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7" tIns="45708" rIns="91417" bIns="45708" anchor="b"/>
          <a:lstStyle/>
          <a:p>
            <a:pPr algn="r" defTabSz="912013"/>
            <a:fld id="{8E5A4BF9-C4C0-4D5C-AC47-583BAF70BEF6}" type="slidenum">
              <a:rPr lang="en-US">
                <a:solidFill>
                  <a:schemeClr val="tx1"/>
                </a:solidFill>
              </a:rPr>
              <a:pPr algn="r" defTabSz="912013"/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397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2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300" b="1" i="1" dirty="0"/>
              <a:t>Resources</a:t>
            </a:r>
            <a:r>
              <a:rPr lang="en-US" sz="1300" dirty="0"/>
              <a:t>:</a:t>
            </a:r>
          </a:p>
          <a:p>
            <a:r>
              <a:rPr lang="en-US" sz="1300" dirty="0"/>
              <a:t>Study Bibles (various versions/translations),</a:t>
            </a:r>
          </a:p>
          <a:p>
            <a:r>
              <a:rPr lang="en-US" sz="1300" dirty="0"/>
              <a:t>Didache Bible (NABR, RSV),</a:t>
            </a:r>
          </a:p>
          <a:p>
            <a:r>
              <a:rPr lang="en-US" sz="1300" dirty="0"/>
              <a:t>Homiletic Directory,</a:t>
            </a:r>
          </a:p>
          <a:p>
            <a:r>
              <a:rPr lang="en-US" sz="1300" dirty="0"/>
              <a:t>Commentaries (e.g., The New Jerome Biblical Commentary, Catena Aurea),</a:t>
            </a:r>
          </a:p>
          <a:p>
            <a:r>
              <a:rPr lang="en-US" sz="1300" dirty="0"/>
              <a:t>Lector Workbook, Living Liturgy,</a:t>
            </a:r>
          </a:p>
          <a:p>
            <a:r>
              <a:rPr lang="en-US" sz="1300" dirty="0"/>
              <a:t>Logos/Verbum, other online resources</a:t>
            </a:r>
          </a:p>
          <a:p>
            <a:r>
              <a:rPr lang="en-US" sz="1300" dirty="0"/>
              <a:t>Collect for the Mass</a:t>
            </a:r>
          </a:p>
          <a:p>
            <a:r>
              <a:rPr lang="en-US" sz="1300" dirty="0"/>
              <a:t>Scripture Summary from the Ordo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6"/>
          <p:cNvSpPr txBox="1">
            <a:spLocks noGrp="1"/>
          </p:cNvSpPr>
          <p:nvPr/>
        </p:nvSpPr>
        <p:spPr bwMode="auto">
          <a:xfrm>
            <a:off x="3884414" y="8847246"/>
            <a:ext cx="2972098" cy="466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7" tIns="45708" rIns="91417" bIns="45708" anchor="b"/>
          <a:lstStyle/>
          <a:p>
            <a:pPr algn="r" defTabSz="912013"/>
            <a:fld id="{4323B181-C06E-47B5-9CBA-D11ADF54F9EF}" type="slidenum">
              <a:rPr lang="en-US">
                <a:solidFill>
                  <a:schemeClr val="tx1"/>
                </a:solidFill>
              </a:rPr>
              <a:pPr algn="r" defTabSz="912013"/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4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300" dirty="0"/>
              <a:t>I am grateful when the Spirit comes to me, and I achieve that “ah ha” moment.</a:t>
            </a:r>
          </a:p>
          <a:p>
            <a:endParaRPr lang="en-US" sz="1300" dirty="0"/>
          </a:p>
          <a:p>
            <a:r>
              <a:rPr lang="en-US" sz="1300" dirty="0"/>
              <a:t>Unfortunately, He chooses to visit most often about 20 minutes after I go to bed.  I realize that He is probably always trying to reach me, but it is when I go to bed that my mind quiets down enough for me to feel his presence and listen to Him.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Number Placeholder 6"/>
          <p:cNvSpPr txBox="1">
            <a:spLocks noGrp="1"/>
          </p:cNvSpPr>
          <p:nvPr/>
        </p:nvSpPr>
        <p:spPr bwMode="auto">
          <a:xfrm>
            <a:off x="3884414" y="8847246"/>
            <a:ext cx="2972098" cy="466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7" tIns="45708" rIns="91417" bIns="45708" anchor="b"/>
          <a:lstStyle/>
          <a:p>
            <a:pPr algn="r" defTabSz="912013"/>
            <a:fld id="{84B4A3BB-2B02-4160-883C-B4434A1D5EDC}" type="slidenum">
              <a:rPr lang="en-US">
                <a:solidFill>
                  <a:schemeClr val="tx1"/>
                </a:solidFill>
              </a:rPr>
              <a:pPr algn="r" defTabSz="912013"/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909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2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300" dirty="0"/>
              <a:t>The amount of time may vary for you.  Right after I was ordained, I tried to start writing too soon, leading to much rewriting.  I am now comfortable waiting to write.  If I have an entire Saturday available, I can write, revise and practice in that one day.</a:t>
            </a:r>
          </a:p>
          <a:p>
            <a:endParaRPr lang="en-US" sz="1300" dirty="0"/>
          </a:p>
          <a:p>
            <a:r>
              <a:rPr lang="en-US" sz="1300" dirty="0"/>
              <a:t>Leave yourself enough time for adequate revision.</a:t>
            </a:r>
          </a:p>
          <a:p>
            <a:endParaRPr lang="en-US" sz="1300" dirty="0"/>
          </a:p>
          <a:p>
            <a:r>
              <a:rPr lang="en-US" sz="1300" dirty="0"/>
              <a:t>Bullet 3: In formulating your homily avoid overly intellectual or theological or strong apologetic themes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Number Placeholder 6"/>
          <p:cNvSpPr txBox="1">
            <a:spLocks noGrp="1"/>
          </p:cNvSpPr>
          <p:nvPr/>
        </p:nvSpPr>
        <p:spPr bwMode="auto">
          <a:xfrm>
            <a:off x="3884414" y="8847246"/>
            <a:ext cx="2972098" cy="466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7" tIns="45708" rIns="91417" bIns="45708" anchor="b"/>
          <a:lstStyle/>
          <a:p>
            <a:pPr algn="r" defTabSz="912013"/>
            <a:fld id="{84B4A3BB-2B02-4160-883C-B4434A1D5EDC}" type="slidenum">
              <a:rPr lang="en-US">
                <a:solidFill>
                  <a:schemeClr val="tx1"/>
                </a:solidFill>
              </a:rPr>
              <a:pPr algn="r" defTabSz="912013"/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909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2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300" b="1" dirty="0"/>
              <a:t>Examples of requested content</a:t>
            </a:r>
            <a:r>
              <a:rPr lang="en-US" sz="1300" dirty="0"/>
              <a:t>: March 2019 Safe Haven Sunday, parish commitment weekend/stewardship</a:t>
            </a:r>
          </a:p>
          <a:p>
            <a:pPr>
              <a:spcBef>
                <a:spcPts val="0"/>
              </a:spcBef>
            </a:pPr>
            <a:endParaRPr lang="en-US" sz="1300" dirty="0"/>
          </a:p>
          <a:p>
            <a:pPr>
              <a:spcBef>
                <a:spcPts val="0"/>
              </a:spcBef>
            </a:pPr>
            <a:r>
              <a:rPr lang="en-US" sz="1300" b="1" dirty="0"/>
              <a:t>Example prayer</a:t>
            </a:r>
            <a:r>
              <a:rPr lang="en-US" sz="1300" dirty="0"/>
              <a:t>: Feast of Holy Family - ended with prayer by Pope Francis at December 2013 Angelus Message prior to 2014 Synod on the Family.</a:t>
            </a:r>
          </a:p>
          <a:p>
            <a:pPr>
              <a:spcBef>
                <a:spcPts val="0"/>
              </a:spcBef>
            </a:pPr>
            <a:endParaRPr lang="en-US" sz="1300" dirty="0"/>
          </a:p>
          <a:p>
            <a:pPr>
              <a:spcBef>
                <a:spcPts val="0"/>
              </a:spcBef>
            </a:pPr>
            <a:r>
              <a:rPr lang="en-US" sz="1300" b="1" dirty="0"/>
              <a:t>Example fact</a:t>
            </a:r>
            <a:r>
              <a:rPr lang="en-US" sz="1300" dirty="0"/>
              <a:t>:  Specifying the approximate amount of water turned into wine at Cana – 945 bottles</a:t>
            </a:r>
          </a:p>
          <a:p>
            <a:pPr>
              <a:spcBef>
                <a:spcPts val="0"/>
              </a:spcBef>
            </a:pPr>
            <a:r>
              <a:rPr lang="en-US" sz="1300" b="1" dirty="0"/>
              <a:t>Example fact</a:t>
            </a:r>
            <a:r>
              <a:rPr lang="en-US" sz="1300" dirty="0"/>
              <a:t>:  In 2019, we heard 6</a:t>
            </a:r>
            <a:r>
              <a:rPr lang="en-US" sz="1300" baseline="30000" dirty="0"/>
              <a:t>th</a:t>
            </a:r>
            <a:r>
              <a:rPr lang="en-US" sz="1300" dirty="0"/>
              <a:t>, 7</a:t>
            </a:r>
            <a:r>
              <a:rPr lang="en-US" sz="1300" baseline="30000" dirty="0"/>
              <a:t>th</a:t>
            </a:r>
            <a:r>
              <a:rPr lang="en-US" sz="1300" dirty="0"/>
              <a:t> and 8</a:t>
            </a:r>
            <a:r>
              <a:rPr lang="en-US" sz="1300" baseline="30000" dirty="0"/>
              <a:t>th</a:t>
            </a:r>
            <a:r>
              <a:rPr lang="en-US" sz="1300" dirty="0"/>
              <a:t> Sundays in ordinary time – previously heard in 2010, 2007, 2001, respectively.</a:t>
            </a:r>
          </a:p>
        </p:txBody>
      </p:sp>
    </p:spTree>
    <p:extLst>
      <p:ext uri="{BB962C8B-B14F-4D97-AF65-F5344CB8AC3E}">
        <p14:creationId xmlns:p14="http://schemas.microsoft.com/office/powerpoint/2010/main" val="12821360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54141-8303-3005-BFF5-89517AC1E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Number Placeholder 6">
            <a:extLst>
              <a:ext uri="{FF2B5EF4-FFF2-40B4-BE49-F238E27FC236}">
                <a16:creationId xmlns:a16="http://schemas.microsoft.com/office/drawing/2014/main" id="{D2BB5E3C-95AF-DE3E-3B8F-5010FF6052B1}"/>
              </a:ext>
            </a:extLst>
          </p:cNvPr>
          <p:cNvSpPr txBox="1">
            <a:spLocks noGrp="1"/>
          </p:cNvSpPr>
          <p:nvPr/>
        </p:nvSpPr>
        <p:spPr bwMode="auto">
          <a:xfrm>
            <a:off x="3884414" y="8847246"/>
            <a:ext cx="2972098" cy="466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7" tIns="45708" rIns="91417" bIns="45708" anchor="b"/>
          <a:lstStyle/>
          <a:p>
            <a:pPr algn="r" defTabSz="912013"/>
            <a:fld id="{84B4A3BB-2B02-4160-883C-B4434A1D5EDC}" type="slidenum">
              <a:rPr lang="en-US">
                <a:solidFill>
                  <a:schemeClr val="tx1"/>
                </a:solidFill>
              </a:rPr>
              <a:pPr algn="r" defTabSz="912013"/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0CD8EE82-58C0-22C6-6CB7-43B3337BD7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F835838A-0F44-15A1-7114-74F43502A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300" dirty="0"/>
              <a:t>Be careful when using AI.  Verify the sources.  Verify consistency with Church teaching.  </a:t>
            </a:r>
            <a:r>
              <a:rPr lang="en-US" sz="1300"/>
              <a:t>Try Magisterium AI.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8204478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Number Placeholder 6"/>
          <p:cNvSpPr txBox="1">
            <a:spLocks noGrp="1"/>
          </p:cNvSpPr>
          <p:nvPr/>
        </p:nvSpPr>
        <p:spPr bwMode="auto">
          <a:xfrm>
            <a:off x="3884414" y="8847246"/>
            <a:ext cx="2972098" cy="466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7" tIns="45708" rIns="91417" bIns="45708" anchor="b"/>
          <a:lstStyle/>
          <a:p>
            <a:pPr algn="r" defTabSz="912013"/>
            <a:fld id="{84B4A3BB-2B02-4160-883C-B4434A1D5EDC}" type="slidenum">
              <a:rPr lang="en-US">
                <a:solidFill>
                  <a:schemeClr val="tx1"/>
                </a:solidFill>
              </a:rPr>
              <a:pPr algn="r" defTabSz="912013"/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909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2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300" dirty="0"/>
              <a:t>Repetition of the theme/core message is desirable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3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300" dirty="0"/>
              <a:t>Why write and spend time revising a homily?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sz="1300" dirty="0"/>
              <a:t>Stimulate and organize ideas, keep homily on point, keep it to length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sz="1300" dirty="0"/>
              <a:t>Can be used during preaching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sz="1300" dirty="0"/>
              <a:t>Have a record in case someone reports something you said to the Bishop</a:t>
            </a:r>
          </a:p>
        </p:txBody>
      </p:sp>
    </p:spTree>
    <p:extLst>
      <p:ext uri="{BB962C8B-B14F-4D97-AF65-F5344CB8AC3E}">
        <p14:creationId xmlns:p14="http://schemas.microsoft.com/office/powerpoint/2010/main" val="25954225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Number Placeholder 6"/>
          <p:cNvSpPr txBox="1">
            <a:spLocks noGrp="1"/>
          </p:cNvSpPr>
          <p:nvPr/>
        </p:nvSpPr>
        <p:spPr bwMode="auto">
          <a:xfrm>
            <a:off x="3884414" y="8847246"/>
            <a:ext cx="2972098" cy="466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7" tIns="45708" rIns="91417" bIns="45708" anchor="b"/>
          <a:lstStyle/>
          <a:p>
            <a:pPr algn="r" defTabSz="912013"/>
            <a:fld id="{84B4A3BB-2B02-4160-883C-B4434A1D5EDC}" type="slidenum">
              <a:rPr lang="en-US">
                <a:solidFill>
                  <a:schemeClr val="tx1"/>
                </a:solidFill>
              </a:rPr>
              <a:pPr algn="r" defTabSz="912013"/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909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2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300" b="1" dirty="0"/>
              <a:t>Inclusive Language</a:t>
            </a:r>
            <a:r>
              <a:rPr lang="en-US" sz="1300" dirty="0"/>
              <a:t>:  Dear Brothers and Sisters rather than Dear Brethren.  Don’t assume all women are stay-at-home moms.  Yet, avoid cumbersome constructs like he/she.  Also, we don’t acknowledge gender fluidity or non-binary gender.</a:t>
            </a:r>
          </a:p>
          <a:p>
            <a:endParaRPr lang="en-US" sz="1300" dirty="0"/>
          </a:p>
          <a:p>
            <a:r>
              <a:rPr lang="en-US" sz="1300" dirty="0"/>
              <a:t>During general editing, I often use the “Read Aloud” feature of Word to help clarify the text and find missing words that my mind fills in when I read the text.</a:t>
            </a:r>
          </a:p>
        </p:txBody>
      </p:sp>
    </p:spTree>
    <p:extLst>
      <p:ext uri="{BB962C8B-B14F-4D97-AF65-F5344CB8AC3E}">
        <p14:creationId xmlns:p14="http://schemas.microsoft.com/office/powerpoint/2010/main" val="17304551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Number Placeholder 6"/>
          <p:cNvSpPr txBox="1">
            <a:spLocks noGrp="1"/>
          </p:cNvSpPr>
          <p:nvPr/>
        </p:nvSpPr>
        <p:spPr bwMode="auto">
          <a:xfrm>
            <a:off x="3884414" y="8847246"/>
            <a:ext cx="2972098" cy="466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7" tIns="45708" rIns="91417" bIns="45708" anchor="b"/>
          <a:lstStyle/>
          <a:p>
            <a:pPr algn="r" defTabSz="912013"/>
            <a:fld id="{84B4A3BB-2B02-4160-883C-B4434A1D5EDC}" type="slidenum">
              <a:rPr lang="en-US">
                <a:solidFill>
                  <a:schemeClr val="tx1"/>
                </a:solidFill>
              </a:rPr>
              <a:pPr algn="r" defTabSz="912013"/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909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2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300" dirty="0"/>
              <a:t>I find it useful, if I have time, to take breaks between practicing.</a:t>
            </a:r>
          </a:p>
          <a:p>
            <a:endParaRPr lang="en-US" sz="1300" dirty="0"/>
          </a:p>
          <a:p>
            <a:r>
              <a:rPr lang="en-US" sz="1300" dirty="0"/>
              <a:t>Do not plan to talk fast to fit a 2000-word homily into 8 minutes.</a:t>
            </a:r>
          </a:p>
        </p:txBody>
      </p:sp>
    </p:spTree>
    <p:extLst>
      <p:ext uri="{BB962C8B-B14F-4D97-AF65-F5344CB8AC3E}">
        <p14:creationId xmlns:p14="http://schemas.microsoft.com/office/powerpoint/2010/main" val="7266711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Number Placeholder 6"/>
          <p:cNvSpPr txBox="1">
            <a:spLocks noGrp="1"/>
          </p:cNvSpPr>
          <p:nvPr/>
        </p:nvSpPr>
        <p:spPr bwMode="auto">
          <a:xfrm>
            <a:off x="3884414" y="8847246"/>
            <a:ext cx="2972098" cy="466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7" tIns="45708" rIns="91417" bIns="45708" anchor="b"/>
          <a:lstStyle/>
          <a:p>
            <a:pPr algn="r" defTabSz="912013"/>
            <a:fld id="{84B4A3BB-2B02-4160-883C-B4434A1D5EDC}" type="slidenum">
              <a:rPr lang="en-US">
                <a:solidFill>
                  <a:schemeClr val="tx1"/>
                </a:solidFill>
              </a:rPr>
              <a:pPr algn="r" defTabSz="912013"/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909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2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8894045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Number Placeholder 6"/>
          <p:cNvSpPr txBox="1">
            <a:spLocks noGrp="1"/>
          </p:cNvSpPr>
          <p:nvPr/>
        </p:nvSpPr>
        <p:spPr bwMode="auto">
          <a:xfrm>
            <a:off x="3884414" y="8847246"/>
            <a:ext cx="2972098" cy="466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7" tIns="45708" rIns="91417" bIns="45708" anchor="b"/>
          <a:lstStyle/>
          <a:p>
            <a:pPr algn="r" defTabSz="912013"/>
            <a:fld id="{84B4A3BB-2B02-4160-883C-B4434A1D5EDC}" type="slidenum">
              <a:rPr lang="en-US">
                <a:solidFill>
                  <a:schemeClr val="tx1"/>
                </a:solidFill>
              </a:rPr>
              <a:pPr algn="r" defTabSz="912013"/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909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2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300" dirty="0"/>
              <a:t>Take this responsibility seriously </a:t>
            </a:r>
            <a:r>
              <a:rPr lang="en-US" sz="1300"/>
              <a:t>– through </a:t>
            </a:r>
            <a:r>
              <a:rPr lang="en-US" sz="1300" dirty="0"/>
              <a:t>your words, you can draw people toward Christ or chase them away from the Church.</a:t>
            </a:r>
          </a:p>
        </p:txBody>
      </p:sp>
    </p:spTree>
    <p:extLst>
      <p:ext uri="{BB962C8B-B14F-4D97-AF65-F5344CB8AC3E}">
        <p14:creationId xmlns:p14="http://schemas.microsoft.com/office/powerpoint/2010/main" val="11188417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Bishop James Golka preaching at the 2022 Chrism Mass.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B546D-3643-43AC-902B-B085166763F1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869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 userDrawn="1"/>
        </p:nvSpPr>
        <p:spPr>
          <a:xfrm>
            <a:off x="165100" y="127000"/>
            <a:ext cx="11925300" cy="59817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970" y="979857"/>
            <a:ext cx="5461000" cy="1592263"/>
          </a:xfrm>
        </p:spPr>
        <p:txBody>
          <a:bodyPr anchor="b"/>
          <a:lstStyle>
            <a:lvl1pPr algn="ctr">
              <a:defRPr sz="4800" b="0" i="0">
                <a:latin typeface="Baskerville" charset="0"/>
                <a:ea typeface="Baskerville" charset="0"/>
                <a:cs typeface="Baskerville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3167" y="2926080"/>
            <a:ext cx="4572000" cy="2971800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latin typeface="Avenir Book" charset="0"/>
                <a:ea typeface="Avenir Book" charset="0"/>
                <a:cs typeface="Avenir Book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0"/>
          </p:nvPr>
        </p:nvSpPr>
        <p:spPr>
          <a:xfrm>
            <a:off x="4001478" y="6245225"/>
            <a:ext cx="3981938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Permanent Diaconate - Diocese of Colorado Springs</a:t>
            </a:r>
          </a:p>
        </p:txBody>
      </p:sp>
      <p:pic>
        <p:nvPicPr>
          <p:cNvPr id="7" name="Picture 6" descr="A person in a white robe&#10;&#10;Description automatically generated with medium confidence">
            <a:extLst>
              <a:ext uri="{FF2B5EF4-FFF2-40B4-BE49-F238E27FC236}">
                <a16:creationId xmlns:a16="http://schemas.microsoft.com/office/drawing/2014/main" id="{42A8F690-8AF2-4921-8796-94FA67FC4F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65154" y="1402169"/>
            <a:ext cx="5397757" cy="35001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0"/>
          <p:cNvCxnSpPr>
            <a:cxnSpLocks/>
          </p:cNvCxnSpPr>
          <p:nvPr userDrawn="1"/>
        </p:nvCxnSpPr>
        <p:spPr>
          <a:xfrm>
            <a:off x="0" y="1049338"/>
            <a:ext cx="12025550" cy="0"/>
          </a:xfrm>
          <a:prstGeom prst="line">
            <a:avLst/>
          </a:prstGeom>
          <a:ln w="127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177800"/>
            <a:ext cx="10515600" cy="839788"/>
          </a:xfrm>
        </p:spPr>
        <p:txBody>
          <a:bodyPr/>
          <a:lstStyle>
            <a:lvl1pPr>
              <a:defRPr b="1" spc="3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6525"/>
            <a:ext cx="9956800" cy="4351338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26 August 2026</a:t>
            </a:r>
            <a:endParaRPr lang="en-US" dirty="0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4036647" y="6245225"/>
            <a:ext cx="3935046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Permanent Diaconate - Diocese of Colorado Springs</a:t>
            </a:r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D34826-B90A-4559-B82A-382580F49D55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9" name="Picture 8" descr="A person in a white robe&#10;&#10;Description automatically generated with medium confidence">
            <a:extLst>
              <a:ext uri="{FF2B5EF4-FFF2-40B4-BE49-F238E27FC236}">
                <a16:creationId xmlns:a16="http://schemas.microsoft.com/office/drawing/2014/main" id="{B30CC237-F804-4EC4-904D-EC3B6718CE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69276" y="172648"/>
            <a:ext cx="2203166" cy="14286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0AE75-9559-46ED-A7AF-3A7BE1695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 August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EEA1FF-A709-49B4-8235-794447D25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906982" cy="476250"/>
          </a:xfrm>
        </p:spPr>
        <p:txBody>
          <a:bodyPr/>
          <a:lstStyle/>
          <a:p>
            <a:r>
              <a:rPr lang="en-US" dirty="0"/>
              <a:t>Permanent Diaconate - Diocese of Colorado Springs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8560EF-C02F-4DE7-8ED5-A7E04D9A0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4F8A-58B4-4D83-8BC8-07E659A1459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103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7000" y="90488"/>
            <a:ext cx="10515600" cy="958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096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355725"/>
            <a:ext cx="98044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968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r>
              <a:rPr lang="en-US"/>
              <a:t>26 August 2026</a:t>
            </a:r>
            <a:endParaRPr lang="en-US" dirty="0"/>
          </a:p>
        </p:txBody>
      </p:sp>
      <p:sp>
        <p:nvSpPr>
          <p:cNvPr id="40969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US" dirty="0"/>
              <a:t>Permanent Diaconate - Diocese of Colorado Springs</a:t>
            </a:r>
          </a:p>
        </p:txBody>
      </p:sp>
      <p:sp>
        <p:nvSpPr>
          <p:cNvPr id="40970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3214F8A-58B4-4D83-8BC8-07E659A1459A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 kern="1200" spc="300">
          <a:solidFill>
            <a:srgbClr val="2F5597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2F5597"/>
          </a:solidFill>
          <a:latin typeface="Calibri Light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2F5597"/>
          </a:solidFill>
          <a:latin typeface="Calibri Light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2F5597"/>
          </a:solidFill>
          <a:latin typeface="Calibri Light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2F5597"/>
          </a:solidFill>
          <a:latin typeface="Calibri Light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2F5597"/>
          </a:solidFill>
          <a:latin typeface="Calibri Light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2F5597"/>
          </a:solidFill>
          <a:latin typeface="Calibri Light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2F5597"/>
          </a:solidFill>
          <a:latin typeface="Calibri Light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2F5597"/>
          </a:solidFill>
          <a:latin typeface="Calibri Light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400" kern="1200">
          <a:solidFill>
            <a:srgbClr val="3B3838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rgbClr val="3B3838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rgbClr val="3B3838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1600" kern="1200">
          <a:solidFill>
            <a:srgbClr val="3B3838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1600" kern="1200">
          <a:solidFill>
            <a:srgbClr val="3B3838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479CD-3E49-40A2-97E9-E669CA91EA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 anchorCtr="0"/>
          <a:lstStyle/>
          <a:p>
            <a:r>
              <a:rPr lang="en-US" dirty="0"/>
              <a:t>Homiletic Method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6F17B8-7FA4-49C1-9A4F-512A6B2BB7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sz="2800" dirty="0">
              <a:latin typeface="Lucida Calligraphy" panose="03010101010101010101" pitchFamily="66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Lucida Calligraphy" panose="03010101010101010101" pitchFamily="66" charset="0"/>
                <a:cs typeface="Calibri" panose="020F0502020204030204" pitchFamily="34" charset="0"/>
              </a:rPr>
              <a:t>No Boring Homilies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Pope Francis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Priest Ordination, St. Peter’s Basilica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April 26, 2015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2CBBE-2B65-4B1E-B9B1-D0364F188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Permanent Diaconate - Diocese of Colorado Springs</a:t>
            </a:r>
          </a:p>
        </p:txBody>
      </p:sp>
    </p:spTree>
    <p:extLst>
      <p:ext uri="{BB962C8B-B14F-4D97-AF65-F5344CB8AC3E}">
        <p14:creationId xmlns:p14="http://schemas.microsoft.com/office/powerpoint/2010/main" val="3943851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 August 2026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Permanent Diaconate - Diocese of Colorado Springs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03211EF3-CC4A-433A-83A5-5C5BDCC7569F}" type="slidenum">
              <a:rPr lang="en-US"/>
              <a:pPr/>
              <a:t>2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273050" y="182563"/>
            <a:ext cx="10055225" cy="8223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>
                <a:latin typeface="Calibri Light"/>
              </a:rPr>
              <a:t>Homiletic Method – Objective</a:t>
            </a:r>
          </a:p>
        </p:txBody>
      </p:sp>
      <p:sp>
        <p:nvSpPr>
          <p:cNvPr id="73731" name="Content Placeholder 2"/>
          <p:cNvSpPr>
            <a:spLocks noGrp="1"/>
          </p:cNvSpPr>
          <p:nvPr>
            <p:ph idx="4294967295"/>
          </p:nvPr>
        </p:nvSpPr>
        <p:spPr>
          <a:xfrm>
            <a:off x="511626" y="1399271"/>
            <a:ext cx="9816649" cy="4834196"/>
          </a:xfrm>
        </p:spPr>
        <p:txBody>
          <a:bodyPr/>
          <a:lstStyle/>
          <a:p>
            <a:pPr marL="0" indent="0" eaLnBrk="1">
              <a:lnSpc>
                <a:spcPct val="108000"/>
              </a:lnSpc>
              <a:spcBef>
                <a:spcPts val="0"/>
              </a:spcBef>
              <a:buNone/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eaLnBrk="1">
              <a:lnSpc>
                <a:spcPct val="108000"/>
              </a:lnSpc>
              <a:spcBef>
                <a:spcPts val="0"/>
              </a:spcBef>
              <a:buNone/>
            </a:pPr>
            <a:endParaRPr lang="en-US" sz="28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eaLnBrk="1">
              <a:lnSpc>
                <a:spcPct val="108000"/>
              </a:lnSpc>
              <a:spcBef>
                <a:spcPts val="0"/>
              </a:spcBef>
              <a:buNone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dirty="0">
                <a:ea typeface="Calibri" panose="020F0502020204030204" pitchFamily="34" charset="0"/>
                <a:cs typeface="Times New Roman" panose="02020603050405020304" pitchFamily="18" charset="0"/>
              </a:rPr>
              <a:t>repare and deliver a homily that is “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scriptural interpretation of human existence which enables a community to </a:t>
            </a:r>
            <a:r>
              <a:rPr lang="en-US" sz="2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recognize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God's active presence, to </a:t>
            </a:r>
            <a:r>
              <a:rPr lang="en-US" sz="2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respond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that presence in faith through liturgical word and gesture, and beyond the liturgical assembly, through a </a:t>
            </a:r>
            <a:r>
              <a:rPr lang="en-US" sz="2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life lived 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conformity with the Gospel.”</a:t>
            </a:r>
          </a:p>
          <a:p>
            <a:pPr marL="0" indent="0" algn="r" eaLnBrk="1">
              <a:lnSpc>
                <a:spcPct val="108000"/>
              </a:lnSpc>
              <a:spcBef>
                <a:spcPts val="0"/>
              </a:spcBef>
              <a:buNone/>
            </a:pP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Ful</a:t>
            </a:r>
            <a:r>
              <a:rPr lang="en-US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filled in Your Hearing [81]</a:t>
            </a:r>
            <a:endParaRPr lang="en-US" sz="18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880" indent="0" eaLnBrk="1">
              <a:lnSpc>
                <a:spcPct val="100000"/>
              </a:lnSpc>
              <a:spcBef>
                <a:spcPts val="1800"/>
              </a:spcBef>
              <a:buNone/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 August 2026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Permanent Diaconate - Diocese of Colorado Springs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84208DC2-20C3-43BF-8C0F-A714E793B3AA}" type="slidenum">
              <a:rPr lang="en-US"/>
              <a:pPr/>
              <a:t>3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273050" y="182563"/>
            <a:ext cx="10055225" cy="8223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>
                <a:latin typeface="Calibri Light"/>
              </a:rPr>
              <a:t>Homiletic Method – Preaching as an Art</a:t>
            </a:r>
          </a:p>
        </p:txBody>
      </p:sp>
      <p:sp>
        <p:nvSpPr>
          <p:cNvPr id="80899" name="Content Placeholder 2"/>
          <p:cNvSpPr>
            <a:spLocks noGrp="1"/>
          </p:cNvSpPr>
          <p:nvPr>
            <p:ph idx="4294967295"/>
          </p:nvPr>
        </p:nvSpPr>
        <p:spPr>
          <a:xfrm>
            <a:off x="730250" y="1279525"/>
            <a:ext cx="9905093" cy="4870904"/>
          </a:xfrm>
        </p:spPr>
        <p:txBody>
          <a:bodyPr/>
          <a:lstStyle/>
          <a:p>
            <a:pPr eaLnBrk="1">
              <a:lnSpc>
                <a:spcPct val="100000"/>
              </a:lnSpc>
              <a:spcBef>
                <a:spcPts val="1800"/>
              </a:spcBef>
              <a:buFont typeface="Calibri" panose="020F0502020204030204" pitchFamily="34" charset="0"/>
              <a:buChar char="•"/>
            </a:pPr>
            <a:r>
              <a:rPr lang="en-US" sz="2800" dirty="0">
                <a:solidFill>
                  <a:srgbClr val="222A35"/>
                </a:solidFill>
              </a:rPr>
              <a:t>Preaching is an </a:t>
            </a:r>
            <a:r>
              <a:rPr lang="en-US" sz="2800" b="1" dirty="0">
                <a:solidFill>
                  <a:srgbClr val="222A35"/>
                </a:solidFill>
              </a:rPr>
              <a:t>art</a:t>
            </a:r>
            <a:r>
              <a:rPr lang="en-US" sz="2800" dirty="0">
                <a:solidFill>
                  <a:srgbClr val="222A35"/>
                </a:solidFill>
              </a:rPr>
              <a:t> based on a </a:t>
            </a:r>
            <a:r>
              <a:rPr lang="en-US" sz="2800" b="1" dirty="0">
                <a:solidFill>
                  <a:srgbClr val="222A35"/>
                </a:solidFill>
              </a:rPr>
              <a:t>theory</a:t>
            </a:r>
            <a:r>
              <a:rPr lang="en-US" sz="2800" dirty="0">
                <a:solidFill>
                  <a:srgbClr val="222A35"/>
                </a:solidFill>
              </a:rPr>
              <a:t> and a </a:t>
            </a:r>
            <a:r>
              <a:rPr lang="en-US" sz="2800" b="1" dirty="0">
                <a:solidFill>
                  <a:srgbClr val="222A35"/>
                </a:solidFill>
              </a:rPr>
              <a:t>method</a:t>
            </a:r>
            <a:endParaRPr lang="en-US" sz="2800" b="1" dirty="0">
              <a:solidFill>
                <a:srgbClr val="222A35"/>
              </a:solidFill>
              <a:latin typeface="Calibri" pitchFamily="34" charset="0"/>
            </a:endParaRPr>
          </a:p>
          <a:p>
            <a:pPr lvl="1"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sz="2400" b="1" i="1" dirty="0">
                <a:ea typeface="Calibri" panose="020F0502020204030204" pitchFamily="34" charset="0"/>
                <a:cs typeface="Times New Roman" panose="02020603050405020304" pitchFamily="18" charset="0"/>
              </a:rPr>
              <a:t>Art</a:t>
            </a:r>
            <a:r>
              <a:rPr lang="en-US" sz="2400" i="1" dirty="0"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reativity, natural talent, skill, practice, patience (time)</a:t>
            </a:r>
          </a:p>
          <a:p>
            <a:pPr lvl="1"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sz="2400" b="1" i="1" dirty="0">
                <a:ea typeface="Calibri" panose="020F0502020204030204" pitchFamily="34" charset="0"/>
                <a:cs typeface="Times New Roman" panose="02020603050405020304" pitchFamily="18" charset="0"/>
              </a:rPr>
              <a:t>Theory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: the objective of the homily, understanding its elements, knowing what makes it effective, becoming skilled in the use of applicable tools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sz="2400" b="1" i="1" dirty="0">
                <a:ea typeface="Calibri" panose="020F0502020204030204" pitchFamily="34" charset="0"/>
                <a:cs typeface="Times New Roman" panose="02020603050405020304" pitchFamily="18" charset="0"/>
              </a:rPr>
              <a:t>Method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lvl="2" eaLnBrk="1">
              <a:lnSpc>
                <a:spcPct val="100000"/>
              </a:lnSpc>
              <a:spcBef>
                <a:spcPts val="300"/>
              </a:spcBef>
              <a:buFont typeface="Calibri" panose="020F0502020204030204" pitchFamily="34" charset="0"/>
              <a:buChar char="•"/>
            </a:pPr>
            <a:r>
              <a:rPr lang="en-US" sz="2200" dirty="0">
                <a:ea typeface="Calibri" panose="020F0502020204030204" pitchFamily="34" charset="0"/>
                <a:cs typeface="Times New Roman" panose="02020603050405020304" pitchFamily="18" charset="0"/>
              </a:rPr>
              <a:t>Provides a </a:t>
            </a:r>
            <a:r>
              <a:rPr lang="en-US" sz="2200" b="1" i="1" dirty="0">
                <a:ea typeface="Calibri" panose="020F0502020204030204" pitchFamily="34" charset="0"/>
                <a:cs typeface="Times New Roman" panose="02020603050405020304" pitchFamily="18" charset="0"/>
              </a:rPr>
              <a:t>framework</a:t>
            </a:r>
            <a:r>
              <a:rPr lang="en-US" sz="2200" dirty="0">
                <a:ea typeface="Calibri" panose="020F0502020204030204" pitchFamily="34" charset="0"/>
                <a:cs typeface="Times New Roman" panose="02020603050405020304" pitchFamily="18" charset="0"/>
              </a:rPr>
              <a:t>, not step-by-step instructions</a:t>
            </a:r>
          </a:p>
          <a:p>
            <a:pPr lvl="2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200" dirty="0">
                <a:ea typeface="Calibri" panose="020F0502020204030204" pitchFamily="34" charset="0"/>
                <a:cs typeface="Times New Roman" panose="02020603050405020304" pitchFamily="18" charset="0"/>
              </a:rPr>
              <a:t>Enables you to channel and direct your work more easily</a:t>
            </a:r>
          </a:p>
          <a:p>
            <a:pPr lvl="2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200" dirty="0">
                <a:ea typeface="Calibri" panose="020F0502020204030204" pitchFamily="34" charset="0"/>
                <a:cs typeface="Times New Roman" panose="02020603050405020304" pitchFamily="18" charset="0"/>
              </a:rPr>
              <a:t>Enables you to work more efficiently within time constraints</a:t>
            </a:r>
          </a:p>
          <a:p>
            <a:pPr lvl="2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Orderly and regular; repeatable</a:t>
            </a:r>
          </a:p>
          <a:p>
            <a:pPr lvl="2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200" dirty="0">
                <a:ea typeface="Calibri" panose="020F0502020204030204" pitchFamily="34" charset="0"/>
                <a:cs typeface="Times New Roman" panose="02020603050405020304" pitchFamily="18" charset="0"/>
              </a:rPr>
              <a:t>A regular pattern of activity that is more important than total time spent</a:t>
            </a:r>
          </a:p>
          <a:p>
            <a:pPr lvl="2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200" dirty="0">
                <a:ea typeface="Calibri" panose="020F0502020204030204" pitchFamily="34" charset="0"/>
                <a:cs typeface="Times New Roman" panose="02020603050405020304" pitchFamily="18" charset="0"/>
              </a:rPr>
              <a:t>Works best when we s</a:t>
            </a: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 as</a:t>
            </a:r>
            <a:r>
              <a:rPr lang="en-US" sz="2200" dirty="0">
                <a:ea typeface="Calibri" panose="020F0502020204030204" pitchFamily="34" charset="0"/>
                <a:cs typeface="Times New Roman" panose="02020603050405020304" pitchFamily="18" charset="0"/>
              </a:rPr>
              <a:t>ide time daily for the process and honor it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eaLnBrk="1">
              <a:lnSpc>
                <a:spcPct val="100000"/>
              </a:lnSpc>
              <a:spcBef>
                <a:spcPts val="1800"/>
              </a:spcBef>
              <a:buNone/>
            </a:pPr>
            <a:endParaRPr lang="en-US" sz="2400" b="1" i="1" dirty="0">
              <a:solidFill>
                <a:srgbClr val="222A35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631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0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0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08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 August 2026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Permanent Diaconate - Diocese of Colorado Springs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84208DC2-20C3-43BF-8C0F-A714E793B3AA}" type="slidenum">
              <a:rPr lang="en-US"/>
              <a:pPr/>
              <a:t>4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273050" y="182563"/>
            <a:ext cx="10055225" cy="8223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>
                <a:latin typeface="Calibri Light"/>
              </a:rPr>
              <a:t>Homiletic Method – Overview</a:t>
            </a:r>
          </a:p>
        </p:txBody>
      </p:sp>
      <p:sp>
        <p:nvSpPr>
          <p:cNvPr id="80899" name="Content Placeholder 2"/>
          <p:cNvSpPr>
            <a:spLocks noGrp="1"/>
          </p:cNvSpPr>
          <p:nvPr>
            <p:ph idx="4294967295"/>
          </p:nvPr>
        </p:nvSpPr>
        <p:spPr>
          <a:xfrm>
            <a:off x="730250" y="1279525"/>
            <a:ext cx="10055225" cy="4860018"/>
          </a:xfrm>
        </p:spPr>
        <p:txBody>
          <a:bodyPr/>
          <a:lstStyle/>
          <a:p>
            <a:pPr eaLnBrk="1">
              <a:lnSpc>
                <a:spcPct val="100000"/>
              </a:lnSpc>
              <a:spcBef>
                <a:spcPts val="1800"/>
              </a:spcBef>
              <a:buFont typeface="Calibri" panose="020F0502020204030204" pitchFamily="34" charset="0"/>
              <a:buChar char="•"/>
            </a:pPr>
            <a:r>
              <a:rPr lang="en-US" sz="2800" b="1" dirty="0">
                <a:ea typeface="Calibri" panose="020F0502020204030204" pitchFamily="34" charset="0"/>
                <a:cs typeface="Times New Roman" panose="02020603050405020304" pitchFamily="18" charset="0"/>
              </a:rPr>
              <a:t>Homiletic Method</a:t>
            </a:r>
            <a:endParaRPr lang="en-US" sz="2800" b="1" dirty="0">
              <a:solidFill>
                <a:srgbClr val="222A35"/>
              </a:solidFill>
              <a:latin typeface="Calibri" pitchFamily="34" charset="0"/>
            </a:endParaRPr>
          </a:p>
          <a:p>
            <a:pPr lvl="1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A model or framework</a:t>
            </a:r>
          </a:p>
          <a:p>
            <a:pPr lvl="2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200" dirty="0">
                <a:ea typeface="Calibri" panose="020F0502020204030204" pitchFamily="34" charset="0"/>
                <a:cs typeface="Times New Roman" panose="02020603050405020304" pitchFamily="18" charset="0"/>
              </a:rPr>
              <a:t>Defines the major components of the creative process</a:t>
            </a:r>
          </a:p>
          <a:p>
            <a:pPr lvl="2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Designed </a:t>
            </a:r>
            <a:r>
              <a:rPr lang="en-US" sz="2200" dirty="0">
                <a:ea typeface="Calibri" panose="020F0502020204030204" pitchFamily="34" charset="0"/>
                <a:cs typeface="Times New Roman" panose="02020603050405020304" pitchFamily="18" charset="0"/>
              </a:rPr>
              <a:t>for a </a:t>
            </a:r>
            <a:r>
              <a:rPr lang="en-US" sz="2200" b="1" i="1" dirty="0">
                <a:ea typeface="Calibri" panose="020F0502020204030204" pitchFamily="34" charset="0"/>
                <a:cs typeface="Times New Roman" panose="02020603050405020304" pitchFamily="18" charset="0"/>
              </a:rPr>
              <a:t>one-week</a:t>
            </a:r>
            <a:r>
              <a:rPr lang="en-US" sz="2200" dirty="0">
                <a:ea typeface="Calibri" panose="020F0502020204030204" pitchFamily="34" charset="0"/>
                <a:cs typeface="Times New Roman" panose="02020603050405020304" pitchFamily="18" charset="0"/>
              </a:rPr>
              <a:t> time frame (deacons often have more </a:t>
            </a:r>
            <a:r>
              <a:rPr lang="en-US" sz="2200" b="1" i="1" dirty="0">
                <a:ea typeface="Calibri" panose="020F0502020204030204" pitchFamily="34" charset="0"/>
                <a:cs typeface="Times New Roman" panose="02020603050405020304" pitchFamily="18" charset="0"/>
              </a:rPr>
              <a:t>lead time</a:t>
            </a:r>
            <a:r>
              <a:rPr lang="en-US" sz="2200" dirty="0"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Configured by the individual preacher</a:t>
            </a:r>
          </a:p>
          <a:p>
            <a:pPr lvl="2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200" dirty="0">
                <a:ea typeface="Calibri" panose="020F0502020204030204" pitchFamily="34" charset="0"/>
                <a:cs typeface="Times New Roman" panose="02020603050405020304" pitchFamily="18" charset="0"/>
              </a:rPr>
              <a:t>Experience (successes and failures)</a:t>
            </a:r>
          </a:p>
          <a:p>
            <a:pPr lvl="2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200" dirty="0">
                <a:ea typeface="Calibri" panose="020F0502020204030204" pitchFamily="34" charset="0"/>
                <a:cs typeface="Times New Roman" panose="02020603050405020304" pitchFamily="18" charset="0"/>
              </a:rPr>
              <a:t>Examples (listening to other preachers)</a:t>
            </a:r>
          </a:p>
          <a:p>
            <a:pPr lvl="2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200" dirty="0">
                <a:ea typeface="Calibri" panose="020F0502020204030204" pitchFamily="34" charset="0"/>
                <a:cs typeface="Times New Roman" panose="02020603050405020304" pitchFamily="18" charset="0"/>
              </a:rPr>
              <a:t>Patience (takes time to develop/refine </a:t>
            </a:r>
            <a:r>
              <a:rPr lang="en-US" sz="2200" b="1" i="1" dirty="0">
                <a:ea typeface="Calibri" panose="020F0502020204030204" pitchFamily="34" charset="0"/>
                <a:cs typeface="Times New Roman" panose="02020603050405020304" pitchFamily="18" charset="0"/>
              </a:rPr>
              <a:t>your</a:t>
            </a:r>
            <a:r>
              <a:rPr lang="en-US" sz="2200" dirty="0">
                <a:ea typeface="Calibri" panose="020F0502020204030204" pitchFamily="34" charset="0"/>
                <a:cs typeface="Times New Roman" panose="02020603050405020304" pitchFamily="18" charset="0"/>
              </a:rPr>
              <a:t> method and discover </a:t>
            </a:r>
            <a:r>
              <a:rPr lang="en-US" sz="2200" b="1" i="1" dirty="0">
                <a:ea typeface="Calibri" panose="020F0502020204030204" pitchFamily="34" charset="0"/>
                <a:cs typeface="Times New Roman" panose="02020603050405020304" pitchFamily="18" charset="0"/>
              </a:rPr>
              <a:t>your</a:t>
            </a:r>
            <a:r>
              <a:rPr lang="en-US" sz="2200" dirty="0">
                <a:ea typeface="Calibri" panose="020F0502020204030204" pitchFamily="34" charset="0"/>
                <a:cs typeface="Times New Roman" panose="02020603050405020304" pitchFamily="18" charset="0"/>
              </a:rPr>
              <a:t> style)</a:t>
            </a:r>
          </a:p>
          <a:p>
            <a:pPr lvl="1"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Remote and </a:t>
            </a:r>
            <a:r>
              <a:rPr lang="en-US" sz="24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continuing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preparation</a:t>
            </a:r>
          </a:p>
          <a:p>
            <a:pPr lvl="2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2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Exegesis</a:t>
            </a: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the books, letters, and Gospels of the Scripture</a:t>
            </a:r>
          </a:p>
          <a:p>
            <a:pPr lvl="2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2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Lectio continua</a:t>
            </a: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sz="2200" dirty="0">
                <a:ea typeface="Calibri" panose="020F0502020204030204" pitchFamily="34" charset="0"/>
                <a:cs typeface="Times New Roman" panose="02020603050405020304" pitchFamily="18" charset="0"/>
              </a:rPr>
              <a:t>reflect continuous (week-to-week) nature of the lectionary</a:t>
            </a:r>
            <a:endParaRPr lang="en-US" sz="2400" b="1" i="1" dirty="0">
              <a:solidFill>
                <a:srgbClr val="222A35"/>
              </a:solidFill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0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0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08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08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 August 2026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Permanent Diaconate - Diocese of Colorado Springs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84208DC2-20C3-43BF-8C0F-A714E793B3AA}" type="slidenum">
              <a:rPr lang="en-US"/>
              <a:pPr/>
              <a:t>5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273050" y="182563"/>
            <a:ext cx="10055225" cy="8223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>
                <a:latin typeface="Calibri Light"/>
              </a:rPr>
              <a:t>Homiletic Method – Fundamental Steps</a:t>
            </a:r>
          </a:p>
        </p:txBody>
      </p:sp>
      <p:sp>
        <p:nvSpPr>
          <p:cNvPr id="80899" name="Content Placeholder 2"/>
          <p:cNvSpPr>
            <a:spLocks noGrp="1"/>
          </p:cNvSpPr>
          <p:nvPr>
            <p:ph idx="4294967295"/>
          </p:nvPr>
        </p:nvSpPr>
        <p:spPr>
          <a:xfrm>
            <a:off x="730250" y="1279525"/>
            <a:ext cx="10055225" cy="4860018"/>
          </a:xfrm>
        </p:spPr>
        <p:txBody>
          <a:bodyPr/>
          <a:lstStyle/>
          <a:p>
            <a:pPr marL="514350" indent="-514350" eaLnBrk="1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800" dirty="0">
                <a:ea typeface="Calibri" panose="020F0502020204030204" pitchFamily="34" charset="0"/>
                <a:cs typeface="Times New Roman" panose="02020603050405020304" pitchFamily="18" charset="0"/>
              </a:rPr>
              <a:t>Reading, Listening, Praying</a:t>
            </a:r>
          </a:p>
          <a:p>
            <a:pPr marL="514350" indent="-514350" eaLnBrk="1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800" dirty="0">
                <a:solidFill>
                  <a:srgbClr val="222A35"/>
                </a:solidFill>
                <a:latin typeface="Calibri" pitchFamily="34" charset="0"/>
              </a:rPr>
              <a:t>Study and Further Reflection</a:t>
            </a:r>
          </a:p>
          <a:p>
            <a:pPr marL="514350" indent="-514350" eaLnBrk="1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800" dirty="0">
                <a:solidFill>
                  <a:srgbClr val="222A35"/>
                </a:solidFill>
              </a:rPr>
              <a:t>Letting Go</a:t>
            </a:r>
          </a:p>
          <a:p>
            <a:pPr marL="514350" indent="-514350" eaLnBrk="1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800" dirty="0">
                <a:solidFill>
                  <a:srgbClr val="222A35"/>
                </a:solidFill>
                <a:latin typeface="Calibri" pitchFamily="34" charset="0"/>
              </a:rPr>
              <a:t>Drafting</a:t>
            </a:r>
          </a:p>
          <a:p>
            <a:pPr marL="514350" indent="-514350" eaLnBrk="1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800" dirty="0">
                <a:solidFill>
                  <a:srgbClr val="222A35"/>
                </a:solidFill>
              </a:rPr>
              <a:t>Revising</a:t>
            </a:r>
          </a:p>
          <a:p>
            <a:pPr marL="514350" indent="-514350" eaLnBrk="1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800" dirty="0">
                <a:solidFill>
                  <a:srgbClr val="222A35"/>
                </a:solidFill>
                <a:latin typeface="Calibri" pitchFamily="34" charset="0"/>
              </a:rPr>
              <a:t>Practicing</a:t>
            </a:r>
          </a:p>
          <a:p>
            <a:pPr marL="514350" indent="-514350" eaLnBrk="1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800" dirty="0">
                <a:solidFill>
                  <a:srgbClr val="222A35"/>
                </a:solidFill>
              </a:rPr>
              <a:t>Preaching (covered next week)</a:t>
            </a:r>
            <a:endParaRPr lang="en-US" sz="2800" dirty="0">
              <a:solidFill>
                <a:srgbClr val="222A35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493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 August 2026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Permanent Diaconate - Diocese of Colorado Springs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BD85ED85-3DB7-4937-A90B-D5C02334AFA1}" type="slidenum">
              <a:rPr lang="en-US"/>
              <a:pPr/>
              <a:t>6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273050" y="182563"/>
            <a:ext cx="10055225" cy="8223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>
                <a:latin typeface="Calibri Light"/>
              </a:rPr>
              <a:t>Reading, Listening, Praying</a:t>
            </a:r>
          </a:p>
        </p:txBody>
      </p:sp>
      <p:sp>
        <p:nvSpPr>
          <p:cNvPr id="77827" name="Content Placeholder 2"/>
          <p:cNvSpPr>
            <a:spLocks noGrp="1"/>
          </p:cNvSpPr>
          <p:nvPr>
            <p:ph idx="4294967295"/>
          </p:nvPr>
        </p:nvSpPr>
        <p:spPr>
          <a:xfrm>
            <a:off x="730250" y="1279525"/>
            <a:ext cx="9968230" cy="4965700"/>
          </a:xfrm>
        </p:spPr>
        <p:txBody>
          <a:bodyPr/>
          <a:lstStyle/>
          <a:p>
            <a:pPr eaLnBrk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•"/>
            </a:pPr>
            <a:r>
              <a:rPr lang="en-US" sz="2800" dirty="0">
                <a:solidFill>
                  <a:srgbClr val="222A35"/>
                </a:solidFill>
                <a:latin typeface="Calibri" pitchFamily="34" charset="0"/>
              </a:rPr>
              <a:t>Begin </a:t>
            </a:r>
            <a:r>
              <a:rPr lang="en-US" sz="2800" b="1" i="1" dirty="0">
                <a:solidFill>
                  <a:srgbClr val="222A35"/>
                </a:solidFill>
                <a:latin typeface="Calibri" pitchFamily="34" charset="0"/>
              </a:rPr>
              <a:t>early</a:t>
            </a:r>
            <a:r>
              <a:rPr lang="en-US" sz="2800" dirty="0">
                <a:solidFill>
                  <a:srgbClr val="222A35"/>
                </a:solidFill>
                <a:latin typeface="Calibri" pitchFamily="34" charset="0"/>
              </a:rPr>
              <a:t> in the week (</a:t>
            </a:r>
            <a:r>
              <a:rPr lang="en-US" sz="2800" i="1" dirty="0">
                <a:solidFill>
                  <a:srgbClr val="222A35"/>
                </a:solidFill>
                <a:latin typeface="Calibri" pitchFamily="34" charset="0"/>
              </a:rPr>
              <a:t>even on Sunday evening</a:t>
            </a:r>
            <a:r>
              <a:rPr lang="en-US" sz="2800" dirty="0">
                <a:solidFill>
                  <a:srgbClr val="222A35"/>
                </a:solidFill>
                <a:latin typeface="Calibri" pitchFamily="34" charset="0"/>
              </a:rPr>
              <a:t>)</a:t>
            </a:r>
          </a:p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sz="2800" dirty="0">
                <a:solidFill>
                  <a:srgbClr val="222A35"/>
                </a:solidFill>
              </a:rPr>
              <a:t>Read and reread the texts for the liturgy (</a:t>
            </a:r>
            <a:r>
              <a:rPr lang="en-US" sz="2800" i="1" dirty="0">
                <a:solidFill>
                  <a:srgbClr val="222A35"/>
                </a:solidFill>
              </a:rPr>
              <a:t>for at least a day or two</a:t>
            </a:r>
            <a:r>
              <a:rPr lang="en-US" sz="2800" dirty="0">
                <a:solidFill>
                  <a:srgbClr val="222A35"/>
                </a:solidFill>
              </a:rPr>
              <a:t>)</a:t>
            </a:r>
          </a:p>
          <a:p>
            <a:pPr lvl="1" eaLnBrk="1">
              <a:lnSpc>
                <a:spcPct val="100000"/>
              </a:lnSpc>
              <a:spcBef>
                <a:spcPts val="8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</a:rPr>
              <a:t>Read familiar texts from a fresh perspective</a:t>
            </a:r>
          </a:p>
          <a:p>
            <a:pPr lvl="1" eaLnBrk="1">
              <a:lnSpc>
                <a:spcPct val="100000"/>
              </a:lnSpc>
              <a:spcBef>
                <a:spcPts val="8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</a:rPr>
              <a:t>Read them aloud</a:t>
            </a:r>
          </a:p>
          <a:p>
            <a:pPr lvl="1" eaLnBrk="1">
              <a:lnSpc>
                <a:spcPct val="100000"/>
              </a:lnSpc>
              <a:spcBef>
                <a:spcPts val="8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</a:rPr>
              <a:t>Read them in several versions (not just the NABR)</a:t>
            </a:r>
          </a:p>
          <a:p>
            <a:pPr lvl="1" eaLnBrk="1">
              <a:lnSpc>
                <a:spcPct val="100000"/>
              </a:lnSpc>
              <a:spcBef>
                <a:spcPts val="8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</a:rPr>
              <a:t>Read all four texts (first reading, second reading, Psalm, Gospel)</a:t>
            </a:r>
          </a:p>
          <a:p>
            <a:pPr lvl="2" eaLnBrk="1">
              <a:lnSpc>
                <a:spcPct val="100000"/>
              </a:lnSpc>
              <a:spcBef>
                <a:spcPts val="200"/>
              </a:spcBef>
              <a:buFont typeface="Courier New" panose="02070309020205020404" pitchFamily="49" charset="0"/>
              <a:buChar char="-"/>
            </a:pPr>
            <a:r>
              <a:rPr lang="en-US" sz="2200" dirty="0">
                <a:solidFill>
                  <a:srgbClr val="222A35"/>
                </a:solidFill>
              </a:rPr>
              <a:t>Look for </a:t>
            </a:r>
            <a:r>
              <a:rPr lang="en-US" sz="2200" b="1" i="1" dirty="0">
                <a:solidFill>
                  <a:srgbClr val="222A35"/>
                </a:solidFill>
              </a:rPr>
              <a:t>thematic unity</a:t>
            </a:r>
            <a:r>
              <a:rPr lang="en-US" sz="2200" dirty="0">
                <a:solidFill>
                  <a:srgbClr val="222A35"/>
                </a:solidFill>
              </a:rPr>
              <a:t>, but do not force it – it might not exist</a:t>
            </a:r>
          </a:p>
          <a:p>
            <a:pPr lvl="2" eaLnBrk="1">
              <a:lnSpc>
                <a:spcPct val="100000"/>
              </a:lnSpc>
              <a:spcBef>
                <a:spcPts val="200"/>
              </a:spcBef>
              <a:buFont typeface="Courier New" panose="02070309020205020404" pitchFamily="49" charset="0"/>
              <a:buChar char="-"/>
            </a:pPr>
            <a:r>
              <a:rPr lang="en-US" sz="2200" dirty="0">
                <a:solidFill>
                  <a:srgbClr val="222A35"/>
                </a:solidFill>
              </a:rPr>
              <a:t>Even when not connected, texts may offer insights for central unifying idea</a:t>
            </a:r>
          </a:p>
          <a:p>
            <a:pPr lvl="2" eaLnBrk="1">
              <a:lnSpc>
                <a:spcPct val="100000"/>
              </a:lnSpc>
              <a:spcBef>
                <a:spcPts val="200"/>
              </a:spcBef>
              <a:buFont typeface="Courier New" panose="02070309020205020404" pitchFamily="49" charset="0"/>
              <a:buChar char="-"/>
            </a:pPr>
            <a:r>
              <a:rPr lang="en-US" sz="2200" dirty="0">
                <a:solidFill>
                  <a:srgbClr val="222A35"/>
                </a:solidFill>
              </a:rPr>
              <a:t>However, it is </a:t>
            </a:r>
            <a:r>
              <a:rPr lang="en-US" sz="2200" b="1" i="1" dirty="0">
                <a:solidFill>
                  <a:srgbClr val="222A35"/>
                </a:solidFill>
              </a:rPr>
              <a:t>not necessary to include all readings </a:t>
            </a:r>
            <a:r>
              <a:rPr lang="en-US" sz="2200" dirty="0">
                <a:solidFill>
                  <a:srgbClr val="222A35"/>
                </a:solidFill>
              </a:rPr>
              <a:t>in your homily</a:t>
            </a:r>
          </a:p>
          <a:p>
            <a:pPr lvl="1" eaLnBrk="1">
              <a:lnSpc>
                <a:spcPct val="100000"/>
              </a:lnSpc>
              <a:spcBef>
                <a:spcPts val="8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</a:rPr>
              <a:t>Read the texts in context </a:t>
            </a:r>
            <a:r>
              <a:rPr lang="en-US" sz="2400" b="1" i="1" dirty="0">
                <a:solidFill>
                  <a:srgbClr val="222A35"/>
                </a:solidFill>
              </a:rPr>
              <a:t>from the Bible</a:t>
            </a:r>
            <a:r>
              <a:rPr lang="en-US" sz="2400" dirty="0">
                <a:solidFill>
                  <a:srgbClr val="222A35"/>
                </a:solidFill>
              </a:rPr>
              <a:t> (</a:t>
            </a:r>
            <a:r>
              <a:rPr lang="en-US" sz="2400" i="1" dirty="0">
                <a:solidFill>
                  <a:srgbClr val="222A35"/>
                </a:solidFill>
              </a:rPr>
              <a:t>what precedes and follows</a:t>
            </a:r>
            <a:r>
              <a:rPr lang="en-US" sz="2400" dirty="0">
                <a:solidFill>
                  <a:srgbClr val="222A35"/>
                </a:solidFill>
              </a:rPr>
              <a:t>)</a:t>
            </a:r>
          </a:p>
          <a:p>
            <a:pPr lvl="1" eaLnBrk="1">
              <a:lnSpc>
                <a:spcPct val="100000"/>
              </a:lnSpc>
              <a:spcBef>
                <a:spcPts val="8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</a:rPr>
              <a:t>Jot down ideas and insights (</a:t>
            </a:r>
            <a:r>
              <a:rPr lang="en-US" sz="2400" i="1" dirty="0">
                <a:solidFill>
                  <a:srgbClr val="222A35"/>
                </a:solidFill>
              </a:rPr>
              <a:t>don’t worry about filtering them</a:t>
            </a:r>
            <a:r>
              <a:rPr lang="en-US" sz="2400" dirty="0">
                <a:solidFill>
                  <a:srgbClr val="222A35"/>
                </a:solidFill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7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7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7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78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 August 2026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Permanent Diaconate - Diocese of Colorado Springs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BD85ED85-3DB7-4937-A90B-D5C02334AFA1}" type="slidenum">
              <a:rPr lang="en-US"/>
              <a:pPr/>
              <a:t>7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273050" y="182563"/>
            <a:ext cx="10055225" cy="8223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>
                <a:latin typeface="Calibri Light"/>
              </a:rPr>
              <a:t>Reading, Listening, Praying </a:t>
            </a:r>
            <a:r>
              <a:rPr lang="en-US" sz="2400" dirty="0">
                <a:latin typeface="Calibri Light"/>
              </a:rPr>
              <a:t>(continued)</a:t>
            </a:r>
          </a:p>
        </p:txBody>
      </p:sp>
      <p:sp>
        <p:nvSpPr>
          <p:cNvPr id="77827" name="Content Placeholder 2"/>
          <p:cNvSpPr>
            <a:spLocks noGrp="1"/>
          </p:cNvSpPr>
          <p:nvPr>
            <p:ph idx="4294967295"/>
          </p:nvPr>
        </p:nvSpPr>
        <p:spPr>
          <a:xfrm>
            <a:off x="730250" y="1279525"/>
            <a:ext cx="9911080" cy="4779963"/>
          </a:xfrm>
        </p:spPr>
        <p:txBody>
          <a:bodyPr/>
          <a:lstStyle/>
          <a:p>
            <a:pPr eaLnBrk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•"/>
            </a:pPr>
            <a:r>
              <a:rPr lang="en-US" sz="2800" dirty="0">
                <a:solidFill>
                  <a:srgbClr val="222A35"/>
                </a:solidFill>
              </a:rPr>
              <a:t>Read prayerfully with an open heart and mind</a:t>
            </a:r>
          </a:p>
          <a:p>
            <a:pPr lvl="1" eaLnBrk="1">
              <a:lnSpc>
                <a:spcPct val="100000"/>
              </a:lnSpc>
              <a:spcBef>
                <a:spcPts val="3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</a:rPr>
              <a:t>Approach the texts humbly, dwell with them, let them speak to you</a:t>
            </a:r>
          </a:p>
          <a:p>
            <a:pPr lvl="1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</a:rPr>
              <a:t>Read prayerfully</a:t>
            </a:r>
          </a:p>
          <a:p>
            <a:pPr lvl="1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</a:rPr>
              <a:t>Listen actively</a:t>
            </a:r>
          </a:p>
          <a:p>
            <a:pPr lvl="1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</a:rPr>
              <a:t>May employ Lectio Divina (</a:t>
            </a:r>
            <a:r>
              <a:rPr lang="en-US" sz="2400" i="1" dirty="0">
                <a:solidFill>
                  <a:srgbClr val="222A35"/>
                </a:solidFill>
              </a:rPr>
              <a:t>Lectio, Meditatio, Oratio, Contemplatio</a:t>
            </a:r>
            <a:r>
              <a:rPr lang="en-US" sz="2400" dirty="0">
                <a:solidFill>
                  <a:srgbClr val="222A35"/>
                </a:solidFill>
              </a:rPr>
              <a:t>)</a:t>
            </a:r>
          </a:p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sz="2800" dirty="0">
                <a:solidFill>
                  <a:srgbClr val="222A35"/>
                </a:solidFill>
              </a:rPr>
              <a:t>Consider the Senses of Scripture – Exegesis </a:t>
            </a:r>
            <a:r>
              <a:rPr lang="en-US" dirty="0">
                <a:solidFill>
                  <a:srgbClr val="222A35"/>
                </a:solidFill>
              </a:rPr>
              <a:t>(</a:t>
            </a:r>
            <a:r>
              <a:rPr lang="en-US" i="1" dirty="0">
                <a:solidFill>
                  <a:srgbClr val="222A35"/>
                </a:solidFill>
              </a:rPr>
              <a:t>CCC 115-117</a:t>
            </a:r>
            <a:r>
              <a:rPr lang="en-US" dirty="0">
                <a:solidFill>
                  <a:srgbClr val="222A35"/>
                </a:solidFill>
              </a:rPr>
              <a:t>)</a:t>
            </a:r>
          </a:p>
          <a:p>
            <a:pPr lvl="2" eaLnBrk="1">
              <a:lnSpc>
                <a:spcPct val="100000"/>
              </a:lnSpc>
              <a:spcBef>
                <a:spcPts val="300"/>
              </a:spcBef>
              <a:buFont typeface="Calibri" panose="020F0502020204030204" pitchFamily="34" charset="0"/>
              <a:buChar char="•"/>
            </a:pPr>
            <a:r>
              <a:rPr lang="en-US" sz="2200" dirty="0">
                <a:solidFill>
                  <a:srgbClr val="222A35"/>
                </a:solidFill>
              </a:rPr>
              <a:t>Literal</a:t>
            </a:r>
          </a:p>
          <a:p>
            <a:pPr lvl="2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200" dirty="0">
                <a:solidFill>
                  <a:srgbClr val="222A35"/>
                </a:solidFill>
              </a:rPr>
              <a:t>Spiritual</a:t>
            </a:r>
          </a:p>
          <a:p>
            <a:pPr lvl="3" eaLnBrk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-"/>
            </a:pPr>
            <a:r>
              <a:rPr lang="en-US" sz="2000" dirty="0">
                <a:solidFill>
                  <a:srgbClr val="222A35"/>
                </a:solidFill>
              </a:rPr>
              <a:t>Allegorical (our faith)</a:t>
            </a:r>
          </a:p>
          <a:p>
            <a:pPr lvl="3" eaLnBrk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-"/>
            </a:pPr>
            <a:r>
              <a:rPr lang="en-US" sz="2000" dirty="0">
                <a:solidFill>
                  <a:srgbClr val="222A35"/>
                </a:solidFill>
              </a:rPr>
              <a:t>Moral (how we are to act)</a:t>
            </a:r>
          </a:p>
          <a:p>
            <a:pPr lvl="3" eaLnBrk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-"/>
            </a:pPr>
            <a:r>
              <a:rPr lang="en-US" sz="2000" dirty="0">
                <a:solidFill>
                  <a:srgbClr val="222A35"/>
                </a:solidFill>
              </a:rPr>
              <a:t>Anagogical (our destiny)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B777E99-5086-912A-CDF6-84D3D07461C4}"/>
              </a:ext>
            </a:extLst>
          </p:cNvPr>
          <p:cNvGrpSpPr/>
          <p:nvPr/>
        </p:nvGrpSpPr>
        <p:grpSpPr>
          <a:xfrm>
            <a:off x="8737600" y="4049237"/>
            <a:ext cx="2103120" cy="2103120"/>
            <a:chOff x="8228734" y="3877904"/>
            <a:chExt cx="2103120" cy="210312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2346091-4039-2F70-B4AE-B16133219BDA}"/>
                </a:ext>
              </a:extLst>
            </p:cNvPr>
            <p:cNvCxnSpPr>
              <a:cxnSpLocks/>
              <a:stCxn id="3" idx="5"/>
              <a:endCxn id="3" idx="1"/>
            </p:cNvCxnSpPr>
            <p:nvPr/>
          </p:nvCxnSpPr>
          <p:spPr>
            <a:xfrm flipH="1" flipV="1">
              <a:off x="8536729" y="4185899"/>
              <a:ext cx="1487130" cy="1487130"/>
            </a:xfrm>
            <a:prstGeom prst="line">
              <a:avLst/>
            </a:prstGeom>
            <a:ln w="190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94C3603-7E62-EAA7-0CFB-06304101B2BC}"/>
                </a:ext>
              </a:extLst>
            </p:cNvPr>
            <p:cNvSpPr/>
            <p:nvPr/>
          </p:nvSpPr>
          <p:spPr>
            <a:xfrm>
              <a:off x="8228734" y="3877904"/>
              <a:ext cx="2103120" cy="2103120"/>
            </a:xfrm>
            <a:prstGeom prst="ellipse">
              <a:avLst/>
            </a:prstGeom>
            <a:noFill/>
            <a:ln w="1905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sz="2300" b="1" dirty="0">
                  <a:solidFill>
                    <a:schemeClr val="tx1"/>
                  </a:solidFill>
                </a:rPr>
                <a:t>EISEGESIS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3296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7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7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7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78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 August 2026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Permanent Diaconate - Diocese of Colorado Springs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DB20C140-989E-4F79-A02C-33CA1DD40267}" type="slidenum">
              <a:rPr lang="en-US"/>
              <a:pPr/>
              <a:t>8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273050" y="182563"/>
            <a:ext cx="10055225" cy="8223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>
                <a:latin typeface="Calibri Light"/>
              </a:rPr>
              <a:t>Study and Further Reflection</a:t>
            </a:r>
          </a:p>
        </p:txBody>
      </p:sp>
      <p:sp>
        <p:nvSpPr>
          <p:cNvPr id="82947" name="Content Placeholder 2"/>
          <p:cNvSpPr>
            <a:spLocks noGrp="1"/>
          </p:cNvSpPr>
          <p:nvPr>
            <p:ph idx="4294967295"/>
          </p:nvPr>
        </p:nvSpPr>
        <p:spPr>
          <a:xfrm>
            <a:off x="730250" y="1279525"/>
            <a:ext cx="10359508" cy="4965700"/>
          </a:xfrm>
        </p:spPr>
        <p:txBody>
          <a:bodyPr/>
          <a:lstStyle/>
          <a:p>
            <a:pPr eaLnBrk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•"/>
            </a:pPr>
            <a:r>
              <a:rPr lang="en-US" sz="2800" b="1" u="sng" dirty="0">
                <a:solidFill>
                  <a:srgbClr val="222A35"/>
                </a:solidFill>
              </a:rPr>
              <a:t>Avoid</a:t>
            </a:r>
            <a:r>
              <a:rPr lang="en-US" sz="2800" dirty="0">
                <a:solidFill>
                  <a:srgbClr val="222A35"/>
                </a:solidFill>
              </a:rPr>
              <a:t> the temptation to </a:t>
            </a:r>
            <a:r>
              <a:rPr lang="en-US" sz="2800" b="1" i="1" dirty="0">
                <a:solidFill>
                  <a:srgbClr val="222A35"/>
                </a:solidFill>
              </a:rPr>
              <a:t>start</a:t>
            </a:r>
            <a:r>
              <a:rPr lang="en-US" sz="2800" dirty="0">
                <a:solidFill>
                  <a:srgbClr val="222A35"/>
                </a:solidFill>
              </a:rPr>
              <a:t> the process by consulting commentaries, and other expert resources!</a:t>
            </a:r>
          </a:p>
          <a:p>
            <a:pPr lvl="1" eaLnBrk="1">
              <a:lnSpc>
                <a:spcPct val="100000"/>
              </a:lnSpc>
              <a:spcBef>
                <a:spcPts val="300"/>
              </a:spcBef>
              <a:buFont typeface="Calibri" panose="020F0502020204030204" pitchFamily="34" charset="0"/>
              <a:buChar char="•"/>
            </a:pPr>
            <a:r>
              <a:rPr lang="en-US" sz="2300" dirty="0">
                <a:solidFill>
                  <a:srgbClr val="222A35"/>
                </a:solidFill>
              </a:rPr>
              <a:t>Inhibits the texts from speaking to us, and from our preparing a homily expressive of our own faith</a:t>
            </a:r>
          </a:p>
          <a:p>
            <a:pPr lvl="1" eaLnBrk="1">
              <a:lnSpc>
                <a:spcPct val="100000"/>
              </a:lnSpc>
              <a:spcBef>
                <a:spcPts val="300"/>
              </a:spcBef>
              <a:buFont typeface="Calibri" panose="020F0502020204030204" pitchFamily="34" charset="0"/>
              <a:buChar char="•"/>
            </a:pPr>
            <a:r>
              <a:rPr lang="en-US" sz="2300" dirty="0">
                <a:solidFill>
                  <a:srgbClr val="222A35"/>
                </a:solidFill>
              </a:rPr>
              <a:t>Blinds us to the concerns of the congregation we serve</a:t>
            </a:r>
          </a:p>
          <a:p>
            <a:pPr lvl="1" eaLnBrk="1">
              <a:lnSpc>
                <a:spcPct val="100000"/>
              </a:lnSpc>
              <a:spcBef>
                <a:spcPts val="300"/>
              </a:spcBef>
              <a:buFont typeface="Calibri" panose="020F0502020204030204" pitchFamily="34" charset="0"/>
              <a:buChar char="•"/>
            </a:pPr>
            <a:r>
              <a:rPr lang="en-US" sz="2300" dirty="0">
                <a:solidFill>
                  <a:srgbClr val="222A35"/>
                </a:solidFill>
              </a:rPr>
              <a:t>Leads to homilies that are </a:t>
            </a:r>
            <a:r>
              <a:rPr lang="en-US" sz="2300" b="1" i="1" dirty="0">
                <a:solidFill>
                  <a:srgbClr val="222A35"/>
                </a:solidFill>
              </a:rPr>
              <a:t>academic</a:t>
            </a:r>
            <a:r>
              <a:rPr lang="en-US" sz="2300" dirty="0">
                <a:solidFill>
                  <a:srgbClr val="222A35"/>
                </a:solidFill>
              </a:rPr>
              <a:t> rather than </a:t>
            </a:r>
            <a:r>
              <a:rPr lang="en-US" sz="2300" b="1" i="1" dirty="0">
                <a:solidFill>
                  <a:srgbClr val="222A35"/>
                </a:solidFill>
              </a:rPr>
              <a:t>existential</a:t>
            </a:r>
          </a:p>
          <a:p>
            <a:pPr lvl="1" eaLnBrk="1">
              <a:lnSpc>
                <a:spcPct val="100000"/>
              </a:lnSpc>
              <a:spcBef>
                <a:spcPts val="300"/>
              </a:spcBef>
              <a:buFont typeface="Calibri" panose="020F0502020204030204" pitchFamily="34" charset="0"/>
              <a:buChar char="•"/>
            </a:pPr>
            <a:r>
              <a:rPr lang="en-US" sz="2300" dirty="0">
                <a:solidFill>
                  <a:srgbClr val="222A35"/>
                </a:solidFill>
              </a:rPr>
              <a:t>Leads to homilies </a:t>
            </a:r>
            <a:r>
              <a:rPr lang="en-US" sz="2300" b="1" i="1" dirty="0">
                <a:solidFill>
                  <a:srgbClr val="222A35"/>
                </a:solidFill>
              </a:rPr>
              <a:t>about</a:t>
            </a:r>
            <a:r>
              <a:rPr lang="en-US" sz="2300" dirty="0">
                <a:solidFill>
                  <a:srgbClr val="222A35"/>
                </a:solidFill>
              </a:rPr>
              <a:t> Scripture, rather than God’s Word </a:t>
            </a:r>
            <a:r>
              <a:rPr lang="en-US" sz="2300" b="1" i="1" dirty="0">
                <a:solidFill>
                  <a:srgbClr val="222A35"/>
                </a:solidFill>
              </a:rPr>
              <a:t>speaking</a:t>
            </a:r>
            <a:r>
              <a:rPr lang="en-US" sz="2300" dirty="0">
                <a:solidFill>
                  <a:srgbClr val="222A35"/>
                </a:solidFill>
              </a:rPr>
              <a:t> to people</a:t>
            </a:r>
          </a:p>
          <a:p>
            <a:pPr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800" b="1" u="sng" dirty="0">
                <a:solidFill>
                  <a:srgbClr val="222A35"/>
                </a:solidFill>
              </a:rPr>
              <a:t>Do</a:t>
            </a:r>
            <a:r>
              <a:rPr lang="en-US" sz="2800" dirty="0">
                <a:solidFill>
                  <a:srgbClr val="222A35"/>
                </a:solidFill>
              </a:rPr>
              <a:t> consult the commentaries and other resources after personal reflection</a:t>
            </a:r>
          </a:p>
          <a:p>
            <a:pPr lvl="1" eaLnBrk="1">
              <a:lnSpc>
                <a:spcPct val="100000"/>
              </a:lnSpc>
              <a:spcBef>
                <a:spcPts val="300"/>
              </a:spcBef>
              <a:buFont typeface="Calibri" panose="020F0502020204030204" pitchFamily="34" charset="0"/>
              <a:buChar char="•"/>
            </a:pPr>
            <a:r>
              <a:rPr lang="en-US" sz="2300" dirty="0">
                <a:solidFill>
                  <a:srgbClr val="222A35"/>
                </a:solidFill>
              </a:rPr>
              <a:t>Validate the accuracy of our own interpretation</a:t>
            </a:r>
          </a:p>
          <a:p>
            <a:pPr lvl="1" eaLnBrk="1">
              <a:lnSpc>
                <a:spcPct val="100000"/>
              </a:lnSpc>
              <a:spcBef>
                <a:spcPts val="300"/>
              </a:spcBef>
              <a:buFont typeface="Calibri" panose="020F0502020204030204" pitchFamily="34" charset="0"/>
              <a:buChar char="•"/>
            </a:pPr>
            <a:r>
              <a:rPr lang="en-US" sz="2300" dirty="0">
                <a:solidFill>
                  <a:srgbClr val="222A35"/>
                </a:solidFill>
              </a:rPr>
              <a:t>Gain new insights and ideas, or to clarify our own ideas</a:t>
            </a:r>
          </a:p>
          <a:p>
            <a:pPr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800" dirty="0">
                <a:solidFill>
                  <a:srgbClr val="222A35"/>
                </a:solidFill>
              </a:rPr>
              <a:t>Resources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 August 2026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Permanent Diaconate - Diocese of Colorado Springs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884433E5-660C-4FFA-AA29-9D37D82F973C}" type="slidenum">
              <a:rPr lang="en-US"/>
              <a:pPr/>
              <a:t>9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273050" y="182563"/>
            <a:ext cx="10055225" cy="8223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>
                <a:latin typeface="Calibri Light"/>
              </a:rPr>
              <a:t>Letting Go</a:t>
            </a:r>
          </a:p>
        </p:txBody>
      </p:sp>
      <p:sp>
        <p:nvSpPr>
          <p:cNvPr id="86019" name="Content Placeholder 2"/>
          <p:cNvSpPr>
            <a:spLocks noGrp="1"/>
          </p:cNvSpPr>
          <p:nvPr>
            <p:ph idx="4294967295"/>
          </p:nvPr>
        </p:nvSpPr>
        <p:spPr>
          <a:xfrm>
            <a:off x="730249" y="1279525"/>
            <a:ext cx="10146858" cy="4965700"/>
          </a:xfrm>
        </p:spPr>
        <p:txBody>
          <a:bodyPr/>
          <a:lstStyle/>
          <a:p>
            <a:pPr eaLnBrk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•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initial ste</a:t>
            </a:r>
            <a:r>
              <a:rPr lang="en-US" sz="2800" dirty="0">
                <a:ea typeface="Calibri" panose="020F0502020204030204" pitchFamily="34" charset="0"/>
                <a:cs typeface="Times New Roman" panose="02020603050405020304" pitchFamily="18" charset="0"/>
              </a:rPr>
              <a:t>ps often leave us with many thoughts, feelings, information, and ideas, but </a:t>
            </a:r>
            <a:r>
              <a:rPr lang="en-US" sz="2800" b="1" i="1" dirty="0">
                <a:ea typeface="Calibri" panose="020F0502020204030204" pitchFamily="34" charset="0"/>
                <a:cs typeface="Times New Roman" panose="02020603050405020304" pitchFamily="18" charset="0"/>
              </a:rPr>
              <a:t>without a sense of order or connection</a:t>
            </a:r>
          </a:p>
          <a:p>
            <a:pPr lvl="1" eaLnBrk="1">
              <a:lnSpc>
                <a:spcPct val="100000"/>
              </a:lnSpc>
              <a:spcBef>
                <a:spcPts val="300"/>
              </a:spcBef>
              <a:buFont typeface="Calibri" panose="020F0502020204030204" pitchFamily="34" charset="0"/>
              <a:buChar char="•"/>
            </a:pPr>
            <a:r>
              <a:rPr lang="en-US" sz="2300" dirty="0">
                <a:ea typeface="Calibri" panose="020F0502020204030204" pitchFamily="34" charset="0"/>
                <a:cs typeface="Times New Roman" panose="02020603050405020304" pitchFamily="18" charset="0"/>
              </a:rPr>
              <a:t>Which themes to focus on</a:t>
            </a:r>
          </a:p>
          <a:p>
            <a:pPr lvl="1" eaLnBrk="1">
              <a:lnSpc>
                <a:spcPct val="100000"/>
              </a:lnSpc>
              <a:spcBef>
                <a:spcPts val="300"/>
              </a:spcBef>
              <a:buFont typeface="Calibri" panose="020F0502020204030204" pitchFamily="34" charset="0"/>
              <a:buChar char="•"/>
            </a:pPr>
            <a:r>
              <a:rPr lang="en-US" sz="2300" dirty="0">
                <a:ea typeface="Calibri" panose="020F0502020204030204" pitchFamily="34" charset="0"/>
                <a:cs typeface="Times New Roman" panose="02020603050405020304" pitchFamily="18" charset="0"/>
              </a:rPr>
              <a:t>What is the central unifying idea (</a:t>
            </a:r>
            <a:r>
              <a:rPr lang="en-US" sz="2300" i="1" dirty="0">
                <a:ea typeface="Calibri" panose="020F0502020204030204" pitchFamily="34" charset="0"/>
                <a:cs typeface="Times New Roman" panose="02020603050405020304" pitchFamily="18" charset="0"/>
              </a:rPr>
              <a:t>core message</a:t>
            </a:r>
            <a:r>
              <a:rPr lang="en-US" sz="2300" dirty="0"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lvl="1" eaLnBrk="1">
              <a:lnSpc>
                <a:spcPct val="100000"/>
              </a:lnSpc>
              <a:spcBef>
                <a:spcPts val="300"/>
              </a:spcBef>
              <a:buFont typeface="Calibri" panose="020F0502020204030204" pitchFamily="34" charset="0"/>
              <a:buChar char="•"/>
            </a:pPr>
            <a:r>
              <a:rPr lang="en-US" sz="2300" dirty="0">
                <a:ea typeface="Calibri" panose="020F0502020204030204" pitchFamily="34" charset="0"/>
                <a:cs typeface="Times New Roman" panose="02020603050405020304" pitchFamily="18" charset="0"/>
              </a:rPr>
              <a:t>We may still not understand one or more passages</a:t>
            </a:r>
          </a:p>
          <a:p>
            <a:pPr lvl="1" eaLnBrk="1">
              <a:lnSpc>
                <a:spcPct val="100000"/>
              </a:lnSpc>
              <a:spcBef>
                <a:spcPts val="300"/>
              </a:spcBef>
              <a:buFont typeface="Calibri" panose="020F0502020204030204" pitchFamily="34" charset="0"/>
              <a:buChar char="•"/>
            </a:pPr>
            <a:r>
              <a:rPr lang="en-US" sz="2300" dirty="0">
                <a:ea typeface="Calibri" panose="020F0502020204030204" pitchFamily="34" charset="0"/>
                <a:cs typeface="Times New Roman" panose="02020603050405020304" pitchFamily="18" charset="0"/>
              </a:rPr>
              <a:t>We may sense a tension between the Word of God and the human situation</a:t>
            </a:r>
          </a:p>
          <a:p>
            <a:pPr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800" dirty="0">
                <a:ea typeface="Calibri" panose="020F0502020204030204" pitchFamily="34" charset="0"/>
                <a:cs typeface="Times New Roman" panose="02020603050405020304" pitchFamily="18" charset="0"/>
              </a:rPr>
              <a:t>Step back and allow the </a:t>
            </a:r>
            <a:r>
              <a:rPr lang="en-US" sz="2800" b="1" i="1" dirty="0">
                <a:ea typeface="Calibri" panose="020F0502020204030204" pitchFamily="34" charset="0"/>
                <a:cs typeface="Times New Roman" panose="02020603050405020304" pitchFamily="18" charset="0"/>
              </a:rPr>
              <a:t>subconscious</a:t>
            </a:r>
            <a:r>
              <a:rPr lang="en-US" sz="2800" dirty="0">
                <a:ea typeface="Calibri" panose="020F0502020204030204" pitchFamily="34" charset="0"/>
                <a:cs typeface="Times New Roman" panose="02020603050405020304" pitchFamily="18" charset="0"/>
              </a:rPr>
              <a:t> mind to process and sort the information</a:t>
            </a:r>
          </a:p>
          <a:p>
            <a:pPr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800" dirty="0">
                <a:ea typeface="Calibri" panose="020F0502020204030204" pitchFamily="34" charset="0"/>
                <a:cs typeface="Times New Roman" panose="02020603050405020304" pitchFamily="18" charset="0"/>
              </a:rPr>
              <a:t>Free our minds and open our hearts for the Holy Spirit to work within us and lead us to a deeper and richer understanding and faith (</a:t>
            </a:r>
            <a:r>
              <a:rPr lang="en-US" i="1" dirty="0">
                <a:ea typeface="Calibri" panose="020F0502020204030204" pitchFamily="34" charset="0"/>
                <a:cs typeface="Times New Roman" panose="02020603050405020304" pitchFamily="18" charset="0"/>
              </a:rPr>
              <a:t>attend to other tasks, recreate, meditate, listen to music</a:t>
            </a:r>
            <a:r>
              <a:rPr lang="en-US" sz="2800" dirty="0"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 August 2026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Permanent Diaconate - Diocese of Colorado Springs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931CBEBE-9912-46A9-9E35-6EF30AABF6A3}" type="slidenum">
              <a:rPr lang="en-US"/>
              <a:pPr/>
              <a:t>10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273050" y="182563"/>
            <a:ext cx="10055225" cy="8223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>
                <a:latin typeface="Calibri Light"/>
              </a:rPr>
              <a:t>Drafting</a:t>
            </a:r>
          </a:p>
        </p:txBody>
      </p:sp>
      <p:sp>
        <p:nvSpPr>
          <p:cNvPr id="88067" name="Content Placeholder 2"/>
          <p:cNvSpPr>
            <a:spLocks noGrp="1"/>
          </p:cNvSpPr>
          <p:nvPr>
            <p:ph idx="4294967295"/>
          </p:nvPr>
        </p:nvSpPr>
        <p:spPr>
          <a:xfrm>
            <a:off x="730249" y="1279525"/>
            <a:ext cx="10055225" cy="4965700"/>
          </a:xfrm>
        </p:spPr>
        <p:txBody>
          <a:bodyPr/>
          <a:lstStyle/>
          <a:p>
            <a:pPr eaLnBrk="1">
              <a:lnSpc>
                <a:spcPct val="100000"/>
              </a:lnSpc>
              <a:spcBef>
                <a:spcPts val="900"/>
              </a:spcBef>
              <a:buFont typeface="Calibri" panose="020F0502020204030204" pitchFamily="34" charset="0"/>
              <a:buChar char="•"/>
            </a:pPr>
            <a:r>
              <a:rPr lang="en-US" sz="2600" dirty="0">
                <a:solidFill>
                  <a:srgbClr val="222A35"/>
                </a:solidFill>
                <a:latin typeface="Calibri" pitchFamily="34" charset="0"/>
              </a:rPr>
              <a:t>Begin drafting your homily at least </a:t>
            </a:r>
            <a:r>
              <a:rPr lang="en-US" sz="2600" b="1" i="1" dirty="0">
                <a:solidFill>
                  <a:srgbClr val="222A35"/>
                </a:solidFill>
                <a:latin typeface="Calibri" pitchFamily="34" charset="0"/>
              </a:rPr>
              <a:t>two days </a:t>
            </a:r>
            <a:r>
              <a:rPr lang="en-US" sz="2600" dirty="0">
                <a:solidFill>
                  <a:srgbClr val="222A35"/>
                </a:solidFill>
                <a:latin typeface="Calibri" pitchFamily="34" charset="0"/>
              </a:rPr>
              <a:t>before preaching</a:t>
            </a:r>
          </a:p>
          <a:p>
            <a:pPr eaLnBrk="1">
              <a:lnSpc>
                <a:spcPct val="100000"/>
              </a:lnSpc>
              <a:spcBef>
                <a:spcPts val="900"/>
              </a:spcBef>
              <a:buFont typeface="Calibri" panose="020F0502020204030204" pitchFamily="34" charset="0"/>
              <a:buChar char="•"/>
            </a:pPr>
            <a:r>
              <a:rPr lang="en-US" sz="2600" dirty="0">
                <a:solidFill>
                  <a:srgbClr val="222A35"/>
                </a:solidFill>
              </a:rPr>
              <a:t>Focus on getting ideas down rather than on style, sentence structure or cohesiveness – this gives you something to work with</a:t>
            </a:r>
          </a:p>
          <a:p>
            <a:pPr eaLnBrk="1">
              <a:lnSpc>
                <a:spcPct val="100000"/>
              </a:lnSpc>
              <a:spcBef>
                <a:spcPts val="900"/>
              </a:spcBef>
              <a:buFont typeface="Calibri" panose="020F0502020204030204" pitchFamily="34" charset="0"/>
              <a:buChar char="•"/>
            </a:pPr>
            <a:r>
              <a:rPr lang="en-US" sz="2600" dirty="0">
                <a:solidFill>
                  <a:srgbClr val="222A35"/>
                </a:solidFill>
                <a:latin typeface="Calibri" pitchFamily="34" charset="0"/>
              </a:rPr>
              <a:t>Writing will stimulate fresh ideas, clarify your understanding of difficult passages, remind you of relevant events or stories, and hel</a:t>
            </a:r>
            <a:r>
              <a:rPr lang="en-US" sz="2600" dirty="0">
                <a:solidFill>
                  <a:srgbClr val="222A35"/>
                </a:solidFill>
              </a:rPr>
              <a:t>p formulate a </a:t>
            </a:r>
            <a:r>
              <a:rPr lang="en-US" sz="2600" b="1" i="1" dirty="0">
                <a:solidFill>
                  <a:srgbClr val="222A35"/>
                </a:solidFill>
              </a:rPr>
              <a:t>central unifying idea </a:t>
            </a:r>
            <a:r>
              <a:rPr lang="en-US" sz="2600" dirty="0">
                <a:solidFill>
                  <a:srgbClr val="222A35"/>
                </a:solidFill>
              </a:rPr>
              <a:t>for your homily</a:t>
            </a:r>
          </a:p>
          <a:p>
            <a:pPr eaLnBrk="1">
              <a:lnSpc>
                <a:spcPct val="100000"/>
              </a:lnSpc>
              <a:spcBef>
                <a:spcPts val="900"/>
              </a:spcBef>
              <a:buFont typeface="Calibri" panose="020F0502020204030204" pitchFamily="34" charset="0"/>
              <a:buChar char="•"/>
            </a:pPr>
            <a:r>
              <a:rPr lang="en-US" sz="2600" dirty="0">
                <a:solidFill>
                  <a:srgbClr val="222A35"/>
                </a:solidFill>
                <a:latin typeface="Calibri" pitchFamily="34" charset="0"/>
              </a:rPr>
              <a:t>Simply write as if sketching or outlining your homily.  </a:t>
            </a:r>
            <a:r>
              <a:rPr lang="en-US" sz="2600" dirty="0">
                <a:solidFill>
                  <a:srgbClr val="222A35"/>
                </a:solidFill>
              </a:rPr>
              <a:t>Don’t waste time crafting well-structured sentences, searching for the perfect word, or even getting the proper sequence of ideas (</a:t>
            </a:r>
            <a:r>
              <a:rPr lang="en-US" sz="2600" i="1" dirty="0">
                <a:solidFill>
                  <a:srgbClr val="222A35"/>
                </a:solidFill>
              </a:rPr>
              <a:t>this is done during revision</a:t>
            </a:r>
            <a:r>
              <a:rPr lang="en-US" sz="2600" dirty="0">
                <a:solidFill>
                  <a:srgbClr val="222A35"/>
                </a:solidFill>
              </a:rPr>
              <a:t>)</a:t>
            </a:r>
          </a:p>
          <a:p>
            <a:pPr eaLnBrk="1">
              <a:lnSpc>
                <a:spcPct val="100000"/>
              </a:lnSpc>
              <a:spcBef>
                <a:spcPts val="900"/>
              </a:spcBef>
              <a:buFont typeface="Calibri" panose="020F0502020204030204" pitchFamily="34" charset="0"/>
              <a:buChar char="•"/>
            </a:pPr>
            <a:r>
              <a:rPr lang="en-US" sz="2600" dirty="0">
                <a:solidFill>
                  <a:srgbClr val="222A35"/>
                </a:solidFill>
              </a:rPr>
              <a:t>The very act of writing calls to the surface the ideas and words that will become the “stuff” of which your homilies will be made.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 August 2026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Permanent Diaconate - Diocese of Colorado Springs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931CBEBE-9912-46A9-9E35-6EF30AABF6A3}" type="slidenum">
              <a:rPr lang="en-US"/>
              <a:pPr/>
              <a:t>11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273050" y="182563"/>
            <a:ext cx="10055225" cy="8223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>
                <a:latin typeface="Calibri Light"/>
              </a:rPr>
              <a:t>Drafting – Literary Elements</a:t>
            </a:r>
          </a:p>
        </p:txBody>
      </p:sp>
      <p:sp>
        <p:nvSpPr>
          <p:cNvPr id="88067" name="Content Placeholder 2"/>
          <p:cNvSpPr>
            <a:spLocks noGrp="1"/>
          </p:cNvSpPr>
          <p:nvPr>
            <p:ph idx="4294967295"/>
          </p:nvPr>
        </p:nvSpPr>
        <p:spPr>
          <a:xfrm>
            <a:off x="730249" y="1279525"/>
            <a:ext cx="10055225" cy="4779963"/>
          </a:xfrm>
        </p:spPr>
        <p:txBody>
          <a:bodyPr/>
          <a:lstStyle/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dirty="0">
                <a:solidFill>
                  <a:srgbClr val="222A35"/>
                </a:solidFill>
                <a:latin typeface="Calibri" pitchFamily="34" charset="0"/>
              </a:rPr>
              <a:t>Personal stories (</a:t>
            </a:r>
            <a:r>
              <a:rPr lang="en-US" i="1" dirty="0">
                <a:solidFill>
                  <a:srgbClr val="222A35"/>
                </a:solidFill>
                <a:latin typeface="Calibri" pitchFamily="34" charset="0"/>
              </a:rPr>
              <a:t>caution with family members</a:t>
            </a:r>
            <a:r>
              <a:rPr lang="en-US" dirty="0">
                <a:solidFill>
                  <a:srgbClr val="222A35"/>
                </a:solidFill>
                <a:latin typeface="Calibri" pitchFamily="34" charset="0"/>
              </a:rPr>
              <a:t>)</a:t>
            </a:r>
          </a:p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dirty="0">
                <a:solidFill>
                  <a:srgbClr val="222A35"/>
                </a:solidFill>
              </a:rPr>
              <a:t>Human interest stories</a:t>
            </a:r>
          </a:p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dirty="0">
                <a:solidFill>
                  <a:srgbClr val="222A35"/>
                </a:solidFill>
                <a:latin typeface="Calibri" pitchFamily="34" charset="0"/>
              </a:rPr>
              <a:t>Quotations</a:t>
            </a:r>
          </a:p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dirty="0">
                <a:solidFill>
                  <a:srgbClr val="222A35"/>
                </a:solidFill>
              </a:rPr>
              <a:t>Current events</a:t>
            </a:r>
          </a:p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dirty="0">
                <a:solidFill>
                  <a:srgbClr val="222A35"/>
                </a:solidFill>
                <a:latin typeface="Calibri" pitchFamily="34" charset="0"/>
              </a:rPr>
              <a:t>Requested </a:t>
            </a:r>
            <a:r>
              <a:rPr lang="en-US" dirty="0">
                <a:solidFill>
                  <a:srgbClr val="222A35"/>
                </a:solidFill>
              </a:rPr>
              <a:t>Content (</a:t>
            </a:r>
            <a:r>
              <a:rPr lang="en-US" i="1" dirty="0">
                <a:solidFill>
                  <a:srgbClr val="222A35"/>
                </a:solidFill>
              </a:rPr>
              <a:t>Pope/bishop/pastor</a:t>
            </a:r>
            <a:r>
              <a:rPr lang="en-US" dirty="0">
                <a:solidFill>
                  <a:srgbClr val="222A35"/>
                </a:solidFill>
              </a:rPr>
              <a:t>)</a:t>
            </a:r>
          </a:p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dirty="0">
                <a:solidFill>
                  <a:srgbClr val="222A35"/>
                </a:solidFill>
                <a:latin typeface="Calibri" pitchFamily="34" charset="0"/>
              </a:rPr>
              <a:t>Humor (</a:t>
            </a:r>
            <a:r>
              <a:rPr lang="en-US" i="1" dirty="0">
                <a:solidFill>
                  <a:srgbClr val="222A35"/>
                </a:solidFill>
                <a:latin typeface="Calibri" pitchFamily="34" charset="0"/>
              </a:rPr>
              <a:t>don’t overuse, must be relevant, the homily is not entertainment</a:t>
            </a:r>
            <a:r>
              <a:rPr lang="en-US" dirty="0">
                <a:solidFill>
                  <a:srgbClr val="222A35"/>
                </a:solidFill>
                <a:latin typeface="Calibri" pitchFamily="34" charset="0"/>
              </a:rPr>
              <a:t>)</a:t>
            </a:r>
            <a:endParaRPr lang="en-US" dirty="0">
              <a:solidFill>
                <a:srgbClr val="222A35"/>
              </a:solidFill>
            </a:endParaRPr>
          </a:p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dirty="0">
                <a:solidFill>
                  <a:srgbClr val="222A35"/>
                </a:solidFill>
              </a:rPr>
              <a:t>Prayers (</a:t>
            </a:r>
            <a:r>
              <a:rPr lang="en-US" i="1" dirty="0">
                <a:solidFill>
                  <a:srgbClr val="222A35"/>
                </a:solidFill>
              </a:rPr>
              <a:t>either as quote or at end of homily</a:t>
            </a:r>
            <a:r>
              <a:rPr lang="en-US" dirty="0">
                <a:solidFill>
                  <a:srgbClr val="222A35"/>
                </a:solidFill>
              </a:rPr>
              <a:t>)</a:t>
            </a:r>
          </a:p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dirty="0">
                <a:solidFill>
                  <a:srgbClr val="222A35"/>
                </a:solidFill>
                <a:latin typeface="Calibri" pitchFamily="34" charset="0"/>
              </a:rPr>
              <a:t>Interesting facts (</a:t>
            </a:r>
            <a:r>
              <a:rPr lang="en-US" i="1" dirty="0">
                <a:solidFill>
                  <a:srgbClr val="222A35"/>
                </a:solidFill>
                <a:latin typeface="Calibri" pitchFamily="34" charset="0"/>
              </a:rPr>
              <a:t>use sparingly</a:t>
            </a:r>
            <a:r>
              <a:rPr lang="en-US" dirty="0">
                <a:solidFill>
                  <a:srgbClr val="222A35"/>
                </a:solidFill>
                <a:latin typeface="Calibri" pitchFamily="34" charset="0"/>
              </a:rPr>
              <a:t>)</a:t>
            </a:r>
          </a:p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dirty="0">
                <a:solidFill>
                  <a:srgbClr val="222A35"/>
                </a:solidFill>
                <a:latin typeface="Calibri" pitchFamily="34" charset="0"/>
              </a:rPr>
              <a:t>Catechesis</a:t>
            </a:r>
          </a:p>
        </p:txBody>
      </p:sp>
    </p:spTree>
    <p:extLst>
      <p:ext uri="{BB962C8B-B14F-4D97-AF65-F5344CB8AC3E}">
        <p14:creationId xmlns:p14="http://schemas.microsoft.com/office/powerpoint/2010/main" val="2718770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755DE-69E2-36B8-1121-896915440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252AF84C-6F47-D817-2F89-EA40B14249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 August 2026</a:t>
            </a:r>
            <a:endParaRPr lang="en-US" dirty="0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49D99429-C294-8369-89C0-C524094377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Permanent Diaconate - Diocese of Colorado Springs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3538069C-9E2F-DE30-7B8A-80B2C28732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931CBEBE-9912-46A9-9E35-6EF30AABF6A3}" type="slidenum">
              <a:rPr lang="en-US"/>
              <a:pPr/>
              <a:t>12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8BCD93-3B6D-E108-DE04-291ACF3BC4D2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273050" y="182563"/>
            <a:ext cx="10055225" cy="8223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>
                <a:latin typeface="Calibri Light"/>
              </a:rPr>
              <a:t>Drafting – Use of Artificial Intelligence</a:t>
            </a:r>
          </a:p>
        </p:txBody>
      </p:sp>
      <p:sp>
        <p:nvSpPr>
          <p:cNvPr id="88067" name="Content Placeholder 2">
            <a:extLst>
              <a:ext uri="{FF2B5EF4-FFF2-40B4-BE49-F238E27FC236}">
                <a16:creationId xmlns:a16="http://schemas.microsoft.com/office/drawing/2014/main" id="{5188BED5-0A38-1E09-9D3A-66C3E5DAD82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0249" y="1279525"/>
            <a:ext cx="10055225" cy="4779963"/>
          </a:xfrm>
        </p:spPr>
        <p:txBody>
          <a:bodyPr/>
          <a:lstStyle/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sz="2600" dirty="0">
                <a:solidFill>
                  <a:srgbClr val="222A35"/>
                </a:solidFill>
                <a:latin typeface="Calibri" pitchFamily="34" charset="0"/>
              </a:rPr>
              <a:t>Practices to Avoid</a:t>
            </a:r>
          </a:p>
          <a:p>
            <a:pPr lvl="1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200" dirty="0">
                <a:solidFill>
                  <a:srgbClr val="222A35"/>
                </a:solidFill>
                <a:latin typeface="Calibri" pitchFamily="34" charset="0"/>
              </a:rPr>
              <a:t>Do not use AI to create or draft your ref</a:t>
            </a:r>
            <a:r>
              <a:rPr lang="en-US" sz="2200" dirty="0">
                <a:solidFill>
                  <a:srgbClr val="222A35"/>
                </a:solidFill>
              </a:rPr>
              <a:t>lections or homilies</a:t>
            </a:r>
          </a:p>
          <a:p>
            <a:pPr lvl="1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200" dirty="0">
                <a:solidFill>
                  <a:srgbClr val="222A35"/>
                </a:solidFill>
                <a:latin typeface="Calibri" pitchFamily="34" charset="0"/>
              </a:rPr>
              <a:t>Do not use AI to replace personal prayer</a:t>
            </a:r>
            <a:r>
              <a:rPr lang="en-US" sz="2200" dirty="0">
                <a:solidFill>
                  <a:srgbClr val="222A35"/>
                </a:solidFill>
              </a:rPr>
              <a:t>, reflection, or Lectio Divina</a:t>
            </a:r>
          </a:p>
          <a:p>
            <a:pPr lvl="1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200" dirty="0">
                <a:solidFill>
                  <a:srgbClr val="222A35"/>
                </a:solidFill>
                <a:latin typeface="Calibri" pitchFamily="34" charset="0"/>
              </a:rPr>
              <a:t>Do not present AI-generated stories as your own</a:t>
            </a:r>
          </a:p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sz="2600" dirty="0">
                <a:solidFill>
                  <a:srgbClr val="222A35"/>
                </a:solidFill>
                <a:latin typeface="Calibri" pitchFamily="34" charset="0"/>
              </a:rPr>
              <a:t>Use AI tools to …</a:t>
            </a:r>
            <a:endParaRPr lang="en-US" sz="2600" dirty="0">
              <a:solidFill>
                <a:srgbClr val="222A35"/>
              </a:solidFill>
            </a:endParaRPr>
          </a:p>
          <a:p>
            <a:pPr lvl="1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200" dirty="0">
                <a:solidFill>
                  <a:srgbClr val="222A35"/>
                </a:solidFill>
              </a:rPr>
              <a:t>Better understand the context and historical facts regarding the Scripture</a:t>
            </a:r>
          </a:p>
          <a:p>
            <a:pPr lvl="1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200" dirty="0">
                <a:solidFill>
                  <a:srgbClr val="222A35"/>
                </a:solidFill>
              </a:rPr>
              <a:t>Gain new insights and ideas, or to clarify your own ideas (always verify sources)</a:t>
            </a:r>
          </a:p>
          <a:p>
            <a:pPr lvl="1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200" dirty="0">
                <a:solidFill>
                  <a:srgbClr val="222A35"/>
                </a:solidFill>
                <a:latin typeface="Calibri" pitchFamily="34" charset="0"/>
              </a:rPr>
              <a:t>C</a:t>
            </a:r>
            <a:r>
              <a:rPr lang="en-US" sz="2200" dirty="0">
                <a:solidFill>
                  <a:srgbClr val="222A35"/>
                </a:solidFill>
              </a:rPr>
              <a:t>heck spelling and grammar and to refine syntax and structural flow of your original drafts</a:t>
            </a:r>
          </a:p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sz="2600" b="1" dirty="0">
                <a:solidFill>
                  <a:srgbClr val="FF0000"/>
                </a:solidFill>
              </a:rPr>
              <a:t>CAUTION</a:t>
            </a:r>
            <a:r>
              <a:rPr lang="en-US" sz="2600" dirty="0">
                <a:solidFill>
                  <a:srgbClr val="222A35"/>
                </a:solidFill>
              </a:rPr>
              <a:t>:	Bypassing the personal reflection and drafting in forming</a:t>
            </a:r>
          </a:p>
          <a:p>
            <a:pPr marL="0" indent="0" ea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222A35"/>
                </a:solidFill>
              </a:rPr>
              <a:t>		a homily weakens your pastoral and preaching ministry.</a:t>
            </a:r>
          </a:p>
          <a:p>
            <a:pPr lvl="1"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endParaRPr lang="en-US" dirty="0">
              <a:solidFill>
                <a:srgbClr val="222A35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426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8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 August 2026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Permanent Diaconate - Diocese of Colorado Springs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931CBEBE-9912-46A9-9E35-6EF30AABF6A3}" type="slidenum">
              <a:rPr lang="en-US"/>
              <a:pPr/>
              <a:t>13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273050" y="182563"/>
            <a:ext cx="10055225" cy="8223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>
                <a:latin typeface="Calibri Light"/>
              </a:rPr>
              <a:t>Revising</a:t>
            </a:r>
          </a:p>
        </p:txBody>
      </p:sp>
      <p:sp>
        <p:nvSpPr>
          <p:cNvPr id="88067" name="Content Placeholder 2"/>
          <p:cNvSpPr>
            <a:spLocks noGrp="1"/>
          </p:cNvSpPr>
          <p:nvPr>
            <p:ph idx="4294967295"/>
          </p:nvPr>
        </p:nvSpPr>
        <p:spPr>
          <a:xfrm>
            <a:off x="730249" y="1279525"/>
            <a:ext cx="10157491" cy="4779963"/>
          </a:xfrm>
        </p:spPr>
        <p:txBody>
          <a:bodyPr/>
          <a:lstStyle/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dirty="0">
                <a:solidFill>
                  <a:srgbClr val="222A35"/>
                </a:solidFill>
                <a:latin typeface="Calibri" pitchFamily="34" charset="0"/>
              </a:rPr>
              <a:t>Revising is an important and repetitive process</a:t>
            </a:r>
          </a:p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dirty="0">
                <a:solidFill>
                  <a:srgbClr val="222A35"/>
                </a:solidFill>
              </a:rPr>
              <a:t>Cut	– Extraneous material that does not support the central idea</a:t>
            </a:r>
          </a:p>
          <a:p>
            <a:pPr marL="0" indent="0" ea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22A35"/>
                </a:solidFill>
              </a:rPr>
              <a:t>	– </a:t>
            </a:r>
            <a:r>
              <a:rPr lang="en-US" dirty="0">
                <a:solidFill>
                  <a:srgbClr val="222A35"/>
                </a:solidFill>
                <a:latin typeface="Calibri" pitchFamily="34" charset="0"/>
              </a:rPr>
              <a:t>Ensure homily is not repetitive, wandering, or too long </a:t>
            </a:r>
            <a:r>
              <a:rPr lang="en-US" sz="2200" dirty="0">
                <a:solidFill>
                  <a:srgbClr val="222A35"/>
                </a:solidFill>
                <a:latin typeface="Calibri" pitchFamily="34" charset="0"/>
              </a:rPr>
              <a:t>(</a:t>
            </a:r>
            <a:r>
              <a:rPr lang="en-US" sz="2200" i="1" dirty="0">
                <a:solidFill>
                  <a:srgbClr val="222A35"/>
                </a:solidFill>
                <a:latin typeface="Calibri" pitchFamily="34" charset="0"/>
              </a:rPr>
              <a:t>note</a:t>
            </a:r>
            <a:r>
              <a:rPr lang="en-US" sz="2200" i="1" dirty="0">
                <a:solidFill>
                  <a:srgbClr val="222A35"/>
                </a:solidFill>
              </a:rPr>
              <a:t> word count</a:t>
            </a:r>
            <a:r>
              <a:rPr lang="en-US" sz="2200" dirty="0">
                <a:solidFill>
                  <a:srgbClr val="222A35"/>
                </a:solidFill>
              </a:rPr>
              <a:t>)</a:t>
            </a:r>
            <a:endParaRPr lang="en-US" sz="2200" dirty="0">
              <a:solidFill>
                <a:srgbClr val="222A35"/>
              </a:solidFill>
              <a:latin typeface="Calibri" pitchFamily="34" charset="0"/>
            </a:endParaRPr>
          </a:p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dirty="0">
                <a:solidFill>
                  <a:srgbClr val="222A35"/>
                </a:solidFill>
              </a:rPr>
              <a:t>Verify there is a </a:t>
            </a:r>
            <a:r>
              <a:rPr lang="en-US" b="1" i="1" dirty="0">
                <a:solidFill>
                  <a:srgbClr val="222A35"/>
                </a:solidFill>
              </a:rPr>
              <a:t>central unifying idea </a:t>
            </a:r>
            <a:r>
              <a:rPr lang="en-US" dirty="0">
                <a:solidFill>
                  <a:srgbClr val="222A35"/>
                </a:solidFill>
              </a:rPr>
              <a:t>(</a:t>
            </a:r>
            <a:r>
              <a:rPr lang="en-US" sz="2200" i="1" dirty="0">
                <a:solidFill>
                  <a:srgbClr val="222A35"/>
                </a:solidFill>
              </a:rPr>
              <a:t>common thread, core message</a:t>
            </a:r>
            <a:r>
              <a:rPr lang="en-US" dirty="0">
                <a:solidFill>
                  <a:srgbClr val="222A35"/>
                </a:solidFill>
              </a:rPr>
              <a:t>)</a:t>
            </a:r>
          </a:p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dirty="0"/>
              <a:t>Maintain a balance between challenging and chastising the people</a:t>
            </a:r>
          </a:p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dirty="0">
                <a:solidFill>
                  <a:srgbClr val="222A35"/>
                </a:solidFill>
                <a:latin typeface="Calibri" pitchFamily="34" charset="0"/>
              </a:rPr>
              <a:t>Arrange the material </a:t>
            </a:r>
            <a:r>
              <a:rPr lang="en-US" dirty="0">
                <a:solidFill>
                  <a:srgbClr val="222A35"/>
                </a:solidFill>
              </a:rPr>
              <a:t>to gain and hold people’s attention and invite them to a response of faith in God’s Word.</a:t>
            </a:r>
          </a:p>
          <a:p>
            <a:pPr lvl="1" eaLnBrk="1">
              <a:lnSpc>
                <a:spcPct val="100000"/>
              </a:lnSpc>
              <a:spcBef>
                <a:spcPts val="3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  <a:latin typeface="Calibri" pitchFamily="34" charset="0"/>
              </a:rPr>
              <a:t>Opening – grab attention (literary ele</a:t>
            </a:r>
            <a:r>
              <a:rPr lang="en-US" sz="2400" dirty="0">
                <a:solidFill>
                  <a:srgbClr val="222A35"/>
                </a:solidFill>
              </a:rPr>
              <a:t>ment); introduce central unifying idea</a:t>
            </a:r>
            <a:endParaRPr lang="en-US" sz="2400" dirty="0">
              <a:solidFill>
                <a:srgbClr val="222A35"/>
              </a:solidFill>
              <a:latin typeface="Calibri" pitchFamily="34" charset="0"/>
            </a:endParaRPr>
          </a:p>
          <a:p>
            <a:pPr lvl="1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</a:rPr>
              <a:t>Body – reinforce the message; smooth flow from opening to closing</a:t>
            </a:r>
          </a:p>
          <a:p>
            <a:pPr lvl="1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  <a:latin typeface="Calibri" pitchFamily="34" charset="0"/>
              </a:rPr>
              <a:t>Closing – invite </a:t>
            </a:r>
            <a:r>
              <a:rPr lang="en-US" sz="2400" dirty="0">
                <a:solidFill>
                  <a:srgbClr val="222A35"/>
                </a:solidFill>
              </a:rPr>
              <a:t>a </a:t>
            </a:r>
            <a:r>
              <a:rPr lang="en-US" sz="2400" dirty="0">
                <a:solidFill>
                  <a:srgbClr val="222A35"/>
                </a:solidFill>
                <a:latin typeface="Calibri" pitchFamily="34" charset="0"/>
              </a:rPr>
              <a:t>response; bridge the Word to the Eucharist</a:t>
            </a:r>
            <a:endParaRPr lang="en-US" sz="2800" dirty="0">
              <a:solidFill>
                <a:srgbClr val="222A35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099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 August 2026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Permanent Diaconate - Diocese of Colorado Springs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931CBEBE-9912-46A9-9E35-6EF30AABF6A3}" type="slidenum">
              <a:rPr lang="en-US"/>
              <a:pPr/>
              <a:t>14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273050" y="182563"/>
            <a:ext cx="10055225" cy="8223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>
                <a:latin typeface="Calibri Light"/>
              </a:rPr>
              <a:t>Revising </a:t>
            </a:r>
            <a:r>
              <a:rPr lang="en-US" sz="2400" dirty="0">
                <a:latin typeface="Calibri Light"/>
              </a:rPr>
              <a:t>(continued)</a:t>
            </a:r>
          </a:p>
        </p:txBody>
      </p:sp>
      <p:sp>
        <p:nvSpPr>
          <p:cNvPr id="88067" name="Content Placeholder 2"/>
          <p:cNvSpPr>
            <a:spLocks noGrp="1"/>
          </p:cNvSpPr>
          <p:nvPr>
            <p:ph idx="4294967295"/>
          </p:nvPr>
        </p:nvSpPr>
        <p:spPr>
          <a:xfrm>
            <a:off x="730249" y="1279525"/>
            <a:ext cx="10055225" cy="4876726"/>
          </a:xfrm>
        </p:spPr>
        <p:txBody>
          <a:bodyPr/>
          <a:lstStyle/>
          <a:p>
            <a:pPr eaLnBrk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•"/>
            </a:pPr>
            <a:r>
              <a:rPr lang="en-US" sz="2800" dirty="0">
                <a:solidFill>
                  <a:srgbClr val="222A35"/>
                </a:solidFill>
              </a:rPr>
              <a:t>General editing</a:t>
            </a:r>
          </a:p>
          <a:p>
            <a:pPr lvl="1" eaLnBrk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</a:rPr>
              <a:t>Revise complex sentences</a:t>
            </a:r>
          </a:p>
          <a:p>
            <a:pPr lvl="1" eaLnBrk="1">
              <a:lnSpc>
                <a:spcPct val="100000"/>
              </a:lnSpc>
              <a:spcBef>
                <a:spcPts val="3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  <a:latin typeface="Calibri" pitchFamily="34" charset="0"/>
              </a:rPr>
              <a:t>Replace jargon, technical, and </a:t>
            </a:r>
            <a:r>
              <a:rPr lang="en-US" sz="2400" dirty="0">
                <a:solidFill>
                  <a:srgbClr val="222A35"/>
                </a:solidFill>
              </a:rPr>
              <a:t>theological terms</a:t>
            </a:r>
          </a:p>
          <a:p>
            <a:pPr lvl="1" eaLnBrk="1">
              <a:lnSpc>
                <a:spcPct val="100000"/>
              </a:lnSpc>
              <a:spcBef>
                <a:spcPts val="3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  <a:latin typeface="Calibri" pitchFamily="34" charset="0"/>
              </a:rPr>
              <a:t>Remove unnecessary and extraneous words</a:t>
            </a:r>
          </a:p>
          <a:p>
            <a:pPr lvl="1" eaLnBrk="1">
              <a:lnSpc>
                <a:spcPct val="100000"/>
              </a:lnSpc>
              <a:spcBef>
                <a:spcPts val="3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  <a:latin typeface="Calibri" pitchFamily="34" charset="0"/>
              </a:rPr>
              <a:t>Substitute vague </a:t>
            </a:r>
            <a:r>
              <a:rPr lang="en-US" sz="2400" dirty="0">
                <a:solidFill>
                  <a:srgbClr val="222A35"/>
                </a:solidFill>
              </a:rPr>
              <a:t>generalities with specific examples</a:t>
            </a:r>
          </a:p>
          <a:p>
            <a:pPr lvl="1" eaLnBrk="1">
              <a:lnSpc>
                <a:spcPct val="100000"/>
              </a:lnSpc>
              <a:spcBef>
                <a:spcPts val="3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  <a:latin typeface="Calibri" pitchFamily="34" charset="0"/>
              </a:rPr>
              <a:t>Remove cliches, use inclusive language, be sensitive to political views</a:t>
            </a:r>
          </a:p>
          <a:p>
            <a:pPr eaLnBrk="1">
              <a:lnSpc>
                <a:spcPct val="100000"/>
              </a:lnSpc>
              <a:spcBef>
                <a:spcPts val="900"/>
              </a:spcBef>
              <a:buFont typeface="Calibri" panose="020F0502020204030204" pitchFamily="34" charset="0"/>
              <a:buChar char="•"/>
            </a:pPr>
            <a:r>
              <a:rPr lang="en-US" sz="2800" dirty="0">
                <a:solidFill>
                  <a:srgbClr val="222A35"/>
                </a:solidFill>
              </a:rPr>
              <a:t>Ensure your homily is an </a:t>
            </a:r>
            <a:r>
              <a:rPr lang="en-US" sz="2800" b="1" i="1" dirty="0">
                <a:solidFill>
                  <a:srgbClr val="222A35"/>
                </a:solidFill>
              </a:rPr>
              <a:t>integral</a:t>
            </a:r>
            <a:r>
              <a:rPr lang="en-US" sz="2800" dirty="0">
                <a:solidFill>
                  <a:srgbClr val="222A35"/>
                </a:solidFill>
              </a:rPr>
              <a:t> part of the liturgy</a:t>
            </a:r>
          </a:p>
          <a:p>
            <a:pPr lvl="1" eaLnBrk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</a:rPr>
              <a:t>Conclusion should lead the assembly into the liturgy that follows</a:t>
            </a:r>
          </a:p>
          <a:p>
            <a:pPr lvl="1" eaLnBrk="1">
              <a:lnSpc>
                <a:spcPct val="100000"/>
              </a:lnSpc>
              <a:spcBef>
                <a:spcPts val="3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</a:rPr>
              <a:t>God becomes more present in the people’s lives and draws them into worship</a:t>
            </a:r>
          </a:p>
          <a:p>
            <a:pPr lvl="1" eaLnBrk="1">
              <a:lnSpc>
                <a:spcPct val="100000"/>
              </a:lnSpc>
              <a:spcBef>
                <a:spcPts val="3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</a:rPr>
              <a:t>Flows out of the Scriptures of the Liturgy of the Word and into the prayers and actions of the Liturgy of the Eucharist</a:t>
            </a:r>
            <a:endParaRPr lang="en-US" sz="2800" dirty="0">
              <a:solidFill>
                <a:srgbClr val="222A35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555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8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 August 2026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Permanent Diaconate - Diocese of Colorado Springs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931CBEBE-9912-46A9-9E35-6EF30AABF6A3}" type="slidenum">
              <a:rPr lang="en-US"/>
              <a:pPr/>
              <a:t>15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273050" y="182563"/>
            <a:ext cx="10055225" cy="8223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>
                <a:latin typeface="Calibri Light"/>
              </a:rPr>
              <a:t>Practicing</a:t>
            </a:r>
          </a:p>
        </p:txBody>
      </p:sp>
      <p:sp>
        <p:nvSpPr>
          <p:cNvPr id="88067" name="Content Placeholder 2"/>
          <p:cNvSpPr>
            <a:spLocks noGrp="1"/>
          </p:cNvSpPr>
          <p:nvPr>
            <p:ph idx="4294967295"/>
          </p:nvPr>
        </p:nvSpPr>
        <p:spPr>
          <a:xfrm>
            <a:off x="730249" y="1279525"/>
            <a:ext cx="10055225" cy="4779963"/>
          </a:xfrm>
        </p:spPr>
        <p:txBody>
          <a:bodyPr/>
          <a:lstStyle/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sz="2800" dirty="0">
                <a:solidFill>
                  <a:srgbClr val="222A35"/>
                </a:solidFill>
              </a:rPr>
              <a:t>After revising the homily, practice, practice, practice</a:t>
            </a:r>
          </a:p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sz="2800" dirty="0">
                <a:solidFill>
                  <a:srgbClr val="222A35"/>
                </a:solidFill>
                <a:latin typeface="Calibri" pitchFamily="34" charset="0"/>
              </a:rPr>
              <a:t>Practice it aloud, several times:</a:t>
            </a:r>
          </a:p>
          <a:p>
            <a:pPr lvl="1" eaLnBrk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  <a:latin typeface="Calibri" pitchFamily="34" charset="0"/>
              </a:rPr>
              <a:t>As</a:t>
            </a:r>
            <a:r>
              <a:rPr lang="en-US" sz="2400" dirty="0">
                <a:solidFill>
                  <a:srgbClr val="222A35"/>
                </a:solidFill>
              </a:rPr>
              <a:t>k yourself, “Is this really me speaking?”</a:t>
            </a:r>
          </a:p>
          <a:p>
            <a:pPr lvl="1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</a:rPr>
              <a:t>Does it sound natural</a:t>
            </a:r>
          </a:p>
          <a:p>
            <a:pPr lvl="1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  <a:latin typeface="Calibri" pitchFamily="34" charset="0"/>
              </a:rPr>
              <a:t>Do</a:t>
            </a:r>
            <a:r>
              <a:rPr lang="en-US" sz="2400" dirty="0">
                <a:solidFill>
                  <a:srgbClr val="222A35"/>
                </a:solidFill>
              </a:rPr>
              <a:t>es it contain words or phrases not suited to oral communication</a:t>
            </a:r>
          </a:p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sz="2800" dirty="0">
                <a:solidFill>
                  <a:srgbClr val="222A35"/>
                </a:solidFill>
              </a:rPr>
              <a:t>Preach your homily to friend, </a:t>
            </a:r>
            <a:r>
              <a:rPr lang="en-US" sz="2800" i="1" dirty="0">
                <a:solidFill>
                  <a:srgbClr val="222A35"/>
                </a:solidFill>
              </a:rPr>
              <a:t>coworker</a:t>
            </a:r>
            <a:r>
              <a:rPr lang="en-US" sz="2800" dirty="0">
                <a:solidFill>
                  <a:srgbClr val="222A35"/>
                </a:solidFill>
              </a:rPr>
              <a:t>, or family member</a:t>
            </a:r>
          </a:p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sz="2800" dirty="0">
                <a:solidFill>
                  <a:srgbClr val="222A35"/>
                </a:solidFill>
              </a:rPr>
              <a:t>Record your presentation and listen to it</a:t>
            </a:r>
          </a:p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sz="2800" dirty="0">
                <a:solidFill>
                  <a:srgbClr val="222A35"/>
                </a:solidFill>
              </a:rPr>
              <a:t>Time your delivery (6 – 8 minutes)</a:t>
            </a:r>
          </a:p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sz="2800" dirty="0">
                <a:solidFill>
                  <a:srgbClr val="222A35"/>
                </a:solidFill>
              </a:rPr>
              <a:t>Make revisions as necessary</a:t>
            </a:r>
          </a:p>
        </p:txBody>
      </p:sp>
    </p:spTree>
    <p:extLst>
      <p:ext uri="{BB962C8B-B14F-4D97-AF65-F5344CB8AC3E}">
        <p14:creationId xmlns:p14="http://schemas.microsoft.com/office/powerpoint/2010/main" val="4065805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 August 2026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Permanent Diaconate - Diocese of Colorado Springs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931CBEBE-9912-46A9-9E35-6EF30AABF6A3}" type="slidenum">
              <a:rPr lang="en-US"/>
              <a:pPr/>
              <a:t>16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273050" y="182563"/>
            <a:ext cx="10055225" cy="8223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>
                <a:latin typeface="Calibri Light"/>
              </a:rPr>
              <a:t>Homily Preparation Group</a:t>
            </a:r>
          </a:p>
        </p:txBody>
      </p:sp>
      <p:sp>
        <p:nvSpPr>
          <p:cNvPr id="88067" name="Content Placeholder 2"/>
          <p:cNvSpPr>
            <a:spLocks noGrp="1"/>
          </p:cNvSpPr>
          <p:nvPr>
            <p:ph idx="4294967295"/>
          </p:nvPr>
        </p:nvSpPr>
        <p:spPr>
          <a:xfrm>
            <a:off x="730249" y="1279525"/>
            <a:ext cx="10055225" cy="4779963"/>
          </a:xfrm>
        </p:spPr>
        <p:txBody>
          <a:bodyPr/>
          <a:lstStyle/>
          <a:p>
            <a:pPr eaLnBrk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•"/>
            </a:pPr>
            <a:r>
              <a:rPr lang="en-US" sz="2800" dirty="0">
                <a:solidFill>
                  <a:srgbClr val="222A35"/>
                </a:solidFill>
              </a:rPr>
              <a:t>Benefits</a:t>
            </a:r>
          </a:p>
          <a:p>
            <a:pPr lvl="1" eaLnBrk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</a:rPr>
              <a:t>Helps the homilists address the real concerns of the congregation</a:t>
            </a:r>
          </a:p>
          <a:p>
            <a:pPr lvl="1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</a:rPr>
              <a:t>Helps the homilists prepare more concrete homilies that gain and hold people’s attention and invite them to a response of faith in God’s Word</a:t>
            </a:r>
          </a:p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sz="2800" dirty="0">
                <a:solidFill>
                  <a:srgbClr val="222A35"/>
                </a:solidFill>
              </a:rPr>
              <a:t>Members</a:t>
            </a:r>
          </a:p>
          <a:p>
            <a:pPr lvl="1" eaLnBrk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  <a:latin typeface="Calibri" pitchFamily="34" charset="0"/>
              </a:rPr>
              <a:t>Priests</a:t>
            </a:r>
          </a:p>
          <a:p>
            <a:pPr lvl="1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</a:rPr>
              <a:t>Deacons</a:t>
            </a:r>
          </a:p>
          <a:p>
            <a:pPr lvl="1"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  <a:latin typeface="Calibri" pitchFamily="34" charset="0"/>
              </a:rPr>
              <a:t>Four or five representatives from the congregation</a:t>
            </a:r>
          </a:p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sz="2800" dirty="0">
                <a:solidFill>
                  <a:srgbClr val="222A35"/>
                </a:solidFill>
                <a:latin typeface="Calibri" pitchFamily="34" charset="0"/>
              </a:rPr>
              <a:t>I don’t know how common this is in our diocese</a:t>
            </a:r>
          </a:p>
          <a:p>
            <a:pPr lvl="1" eaLnBrk="1">
              <a:lnSpc>
                <a:spcPct val="100000"/>
              </a:lnSpc>
              <a:spcBef>
                <a:spcPts val="300"/>
              </a:spcBef>
              <a:buFont typeface="Calibri" panose="020F0502020204030204" pitchFamily="34" charset="0"/>
              <a:buChar char="•"/>
            </a:pPr>
            <a:r>
              <a:rPr lang="en-US" sz="2400" dirty="0">
                <a:solidFill>
                  <a:srgbClr val="222A35"/>
                </a:solidFill>
                <a:latin typeface="Calibri" pitchFamily="34" charset="0"/>
              </a:rPr>
              <a:t>I have heard of the deacons at a parish gather to discuss the readings</a:t>
            </a:r>
          </a:p>
        </p:txBody>
      </p:sp>
    </p:spTree>
    <p:extLst>
      <p:ext uri="{BB962C8B-B14F-4D97-AF65-F5344CB8AC3E}">
        <p14:creationId xmlns:p14="http://schemas.microsoft.com/office/powerpoint/2010/main" val="3435962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26 August 2026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Permanent Diaconate - Diocese of Colorado Springs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931CBEBE-9912-46A9-9E35-6EF30AABF6A3}" type="slidenum">
              <a:rPr lang="en-US"/>
              <a:pPr/>
              <a:t>17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273050" y="182563"/>
            <a:ext cx="10055225" cy="8223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>
                <a:latin typeface="Calibri Light"/>
              </a:rPr>
              <a:t>Non-Negotiables</a:t>
            </a:r>
          </a:p>
        </p:txBody>
      </p:sp>
      <p:sp>
        <p:nvSpPr>
          <p:cNvPr id="88067" name="Content Placeholder 2"/>
          <p:cNvSpPr>
            <a:spLocks noGrp="1"/>
          </p:cNvSpPr>
          <p:nvPr>
            <p:ph idx="4294967295"/>
          </p:nvPr>
        </p:nvSpPr>
        <p:spPr>
          <a:xfrm>
            <a:off x="730248" y="1180215"/>
            <a:ext cx="10402039" cy="5065010"/>
          </a:xfrm>
        </p:spPr>
        <p:txBody>
          <a:bodyPr/>
          <a:lstStyle/>
          <a:p>
            <a:pPr marL="0" indent="0" ea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i="1" dirty="0">
                <a:solidFill>
                  <a:srgbClr val="222A35"/>
                </a:solidFill>
                <a:latin typeface="Calibri" pitchFamily="34" charset="0"/>
              </a:rPr>
              <a:t>Looking into the faces of the people who sit before us, we see </a:t>
            </a:r>
            <a:br>
              <a:rPr lang="en-US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800" i="1" dirty="0">
                <a:solidFill>
                  <a:srgbClr val="222A35"/>
                </a:solidFill>
                <a:latin typeface="Calibri" pitchFamily="34" charset="0"/>
              </a:rPr>
              <a:t>those who are </a:t>
            </a:r>
            <a:r>
              <a:rPr lang="en-US" sz="2800" b="1" i="1" dirty="0">
                <a:solidFill>
                  <a:srgbClr val="222A35"/>
                </a:solidFill>
                <a:latin typeface="Calibri" pitchFamily="34" charset="0"/>
              </a:rPr>
              <a:t>holier</a:t>
            </a:r>
            <a:r>
              <a:rPr lang="en-US" sz="2800" i="1" dirty="0">
                <a:solidFill>
                  <a:srgbClr val="222A35"/>
                </a:solidFill>
                <a:latin typeface="Calibri" pitchFamily="34" charset="0"/>
              </a:rPr>
              <a:t>, more </a:t>
            </a:r>
            <a:r>
              <a:rPr lang="en-US" sz="2800" b="1" i="1" dirty="0">
                <a:solidFill>
                  <a:srgbClr val="222A35"/>
                </a:solidFill>
                <a:latin typeface="Calibri" pitchFamily="34" charset="0"/>
              </a:rPr>
              <a:t>intelligent</a:t>
            </a:r>
            <a:r>
              <a:rPr lang="en-US" sz="2800" i="1" dirty="0">
                <a:solidFill>
                  <a:srgbClr val="222A35"/>
                </a:solidFill>
                <a:latin typeface="Calibri" pitchFamily="34" charset="0"/>
              </a:rPr>
              <a:t>, and more </a:t>
            </a:r>
            <a:r>
              <a:rPr lang="en-US" sz="2800" b="1" i="1" dirty="0">
                <a:solidFill>
                  <a:srgbClr val="222A35"/>
                </a:solidFill>
                <a:latin typeface="Calibri" pitchFamily="34" charset="0"/>
              </a:rPr>
              <a:t>creative</a:t>
            </a:r>
            <a:r>
              <a:rPr lang="en-US" sz="2800" i="1" dirty="0">
                <a:solidFill>
                  <a:srgbClr val="222A35"/>
                </a:solidFill>
                <a:latin typeface="Calibri" pitchFamily="34" charset="0"/>
              </a:rPr>
              <a:t>.  And </a:t>
            </a:r>
            <a:br>
              <a:rPr lang="en-US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800" i="1" dirty="0">
                <a:solidFill>
                  <a:srgbClr val="222A35"/>
                </a:solidFill>
                <a:latin typeface="Calibri" pitchFamily="34" charset="0"/>
              </a:rPr>
              <a:t>yet they </a:t>
            </a:r>
            <a:r>
              <a:rPr lang="en-US" sz="2800" b="1" i="1" dirty="0">
                <a:solidFill>
                  <a:srgbClr val="222A35"/>
                </a:solidFill>
                <a:latin typeface="Calibri" pitchFamily="34" charset="0"/>
              </a:rPr>
              <a:t>wait for us </a:t>
            </a:r>
            <a:r>
              <a:rPr lang="en-US" sz="2800" i="1" dirty="0">
                <a:solidFill>
                  <a:srgbClr val="222A35"/>
                </a:solidFill>
                <a:latin typeface="Calibri" pitchFamily="34" charset="0"/>
              </a:rPr>
              <a:t>to speak, to preach, to proclaim and witness </a:t>
            </a:r>
            <a:br>
              <a:rPr lang="en-US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800" i="1" dirty="0">
                <a:solidFill>
                  <a:srgbClr val="222A35"/>
                </a:solidFill>
                <a:latin typeface="Calibri" pitchFamily="34" charset="0"/>
              </a:rPr>
              <a:t>to the presence of God among us.  </a:t>
            </a:r>
            <a:r>
              <a:rPr lang="en-US" sz="2800" i="1" baseline="-25000" dirty="0">
                <a:solidFill>
                  <a:srgbClr val="222A35"/>
                </a:solidFill>
                <a:latin typeface="Calibri" pitchFamily="34" charset="0"/>
              </a:rPr>
              <a:t>[FYH 113]</a:t>
            </a:r>
          </a:p>
          <a:p>
            <a:pPr eaLnBrk="1">
              <a:lnSpc>
                <a:spcPct val="100000"/>
              </a:lnSpc>
              <a:spcBef>
                <a:spcPts val="1200"/>
              </a:spcBef>
              <a:buFont typeface="Calibri" panose="020F0502020204030204" pitchFamily="34" charset="0"/>
              <a:buChar char="•"/>
            </a:pPr>
            <a:r>
              <a:rPr lang="en-US" sz="2800" dirty="0">
                <a:solidFill>
                  <a:srgbClr val="222A35"/>
                </a:solidFill>
              </a:rPr>
              <a:t>Effective preaching requires time and serious effort</a:t>
            </a:r>
          </a:p>
          <a:p>
            <a:pPr eaLnBrk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•"/>
            </a:pPr>
            <a:r>
              <a:rPr lang="en-US" sz="2800" dirty="0">
                <a:solidFill>
                  <a:srgbClr val="222A35"/>
                </a:solidFill>
                <a:latin typeface="Calibri" pitchFamily="34" charset="0"/>
              </a:rPr>
              <a:t>There is </a:t>
            </a:r>
            <a:r>
              <a:rPr lang="en-US" sz="2800" dirty="0">
                <a:solidFill>
                  <a:srgbClr val="222A35"/>
                </a:solidFill>
              </a:rPr>
              <a:t>no</a:t>
            </a:r>
            <a:r>
              <a:rPr lang="en-US" sz="2800" dirty="0">
                <a:solidFill>
                  <a:srgbClr val="222A35"/>
                </a:solidFill>
                <a:latin typeface="Calibri" pitchFamily="34" charset="0"/>
              </a:rPr>
              <a:t> </a:t>
            </a:r>
            <a:r>
              <a:rPr lang="en-US" sz="2800" b="1" i="1" dirty="0">
                <a:solidFill>
                  <a:srgbClr val="222A35"/>
                </a:solidFill>
                <a:latin typeface="Calibri" pitchFamily="34" charset="0"/>
              </a:rPr>
              <a:t>one</a:t>
            </a:r>
            <a:r>
              <a:rPr lang="en-US" sz="2800" dirty="0">
                <a:solidFill>
                  <a:srgbClr val="222A35"/>
                </a:solidFill>
                <a:latin typeface="Calibri" pitchFamily="34" charset="0"/>
              </a:rPr>
              <a:t> way to prepare, but the following are </a:t>
            </a:r>
            <a:r>
              <a:rPr lang="en-US" sz="2800" b="1" i="1" dirty="0">
                <a:solidFill>
                  <a:srgbClr val="222A35"/>
                </a:solidFill>
                <a:latin typeface="Calibri" pitchFamily="34" charset="0"/>
              </a:rPr>
              <a:t>essential</a:t>
            </a:r>
            <a:r>
              <a:rPr lang="en-US" sz="2800" dirty="0">
                <a:solidFill>
                  <a:srgbClr val="222A35"/>
                </a:solidFill>
                <a:latin typeface="Calibri" pitchFamily="34" charset="0"/>
              </a:rPr>
              <a:t>:</a:t>
            </a:r>
          </a:p>
          <a:p>
            <a:pPr lvl="1" eaLnBrk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•"/>
            </a:pPr>
            <a:r>
              <a:rPr lang="en-US" sz="2300" dirty="0">
                <a:solidFill>
                  <a:srgbClr val="222A35"/>
                </a:solidFill>
              </a:rPr>
              <a:t>Time – more challenging for deacons, but shortcuts lead to ineffective preaching</a:t>
            </a:r>
          </a:p>
          <a:p>
            <a:pPr lvl="1" eaLnBrk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•"/>
            </a:pPr>
            <a:r>
              <a:rPr lang="en-US" sz="2300" dirty="0">
                <a:solidFill>
                  <a:srgbClr val="222A35"/>
                </a:solidFill>
                <a:latin typeface="Calibri" pitchFamily="34" charset="0"/>
              </a:rPr>
              <a:t>Prayer – preaching flows from faith; prayer nourishes faith</a:t>
            </a:r>
          </a:p>
          <a:p>
            <a:pPr lvl="1" eaLnBrk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•"/>
            </a:pPr>
            <a:r>
              <a:rPr lang="en-US" sz="2300" dirty="0">
                <a:solidFill>
                  <a:srgbClr val="222A35"/>
                </a:solidFill>
              </a:rPr>
              <a:t>Study – continuing study prevents stagnation and insipid preaching</a:t>
            </a:r>
          </a:p>
          <a:p>
            <a:pPr lvl="1" eaLnBrk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•"/>
            </a:pPr>
            <a:r>
              <a:rPr lang="en-US" sz="2300" dirty="0">
                <a:solidFill>
                  <a:srgbClr val="222A35"/>
                </a:solidFill>
                <a:latin typeface="Calibri" pitchFamily="34" charset="0"/>
              </a:rPr>
              <a:t>Or</a:t>
            </a:r>
            <a:r>
              <a:rPr lang="en-US" sz="2300" dirty="0">
                <a:solidFill>
                  <a:srgbClr val="222A35"/>
                </a:solidFill>
              </a:rPr>
              <a:t>ganization – the homiletic method ensures there is a point to what we preach</a:t>
            </a:r>
          </a:p>
          <a:p>
            <a:pPr lvl="1" eaLnBrk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•"/>
            </a:pPr>
            <a:r>
              <a:rPr lang="en-US" sz="2300" dirty="0">
                <a:solidFill>
                  <a:srgbClr val="222A35"/>
                </a:solidFill>
                <a:latin typeface="Calibri" pitchFamily="34" charset="0"/>
              </a:rPr>
              <a:t>Concreteness – avoid vague generalities and technical, theological language</a:t>
            </a:r>
          </a:p>
          <a:p>
            <a:pPr lvl="1" eaLnBrk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•"/>
            </a:pPr>
            <a:r>
              <a:rPr lang="en-US" sz="2300" dirty="0">
                <a:solidFill>
                  <a:srgbClr val="222A35"/>
                </a:solidFill>
              </a:rPr>
              <a:t>Evaluation – seek feedback from others to ensure our homilies remain fresh</a:t>
            </a:r>
            <a:endParaRPr lang="en-US" sz="2300" dirty="0">
              <a:solidFill>
                <a:srgbClr val="222A35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37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erson in a robe standing in front of a group of people&#10;&#10;Description automatically generated with low confidence">
            <a:extLst>
              <a:ext uri="{FF2B5EF4-FFF2-40B4-BE49-F238E27FC236}">
                <a16:creationId xmlns:a16="http://schemas.microsoft.com/office/drawing/2014/main" id="{5CD58CBF-EF7D-4212-8CA5-69C4DC005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228" y="643466"/>
            <a:ext cx="8377544" cy="557106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E3936-CE53-40AA-908D-4B649297B4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t>26 August 2026</a:t>
            </a:r>
            <a:endParaRPr lang="en-US" sz="1200" dirty="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E13C1-E709-4666-BD8B-A7FC07861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Permanent Diaconate - Diocese of Colorado Springs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0E679-7756-45CF-8403-2CA83C9AF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2D34826-B90A-4559-B82A-382580F49D55}" type="slidenum">
              <a:rPr lang="en-US" sz="1200" smtClean="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18</a:t>
            </a:fld>
            <a:endParaRPr lang="en-US" sz="1200" dirty="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80887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C8F0764E-FAA9-B74B-B3EB-B9881A5A580F}" vid="{80C79C34-3265-9642-A602-AB0E9919E3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StMaryTemplate_11052016</Template>
  <TotalTime>3475</TotalTime>
  <Words>2792</Words>
  <Application>Microsoft Office PowerPoint</Application>
  <PresentationFormat>Widescreen</PresentationFormat>
  <Paragraphs>314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Avenir Book</vt:lpstr>
      <vt:lpstr>Baskerville</vt:lpstr>
      <vt:lpstr>Calibri</vt:lpstr>
      <vt:lpstr>Calibri Light</vt:lpstr>
      <vt:lpstr>Courier New</vt:lpstr>
      <vt:lpstr>Lucida Calligraphy</vt:lpstr>
      <vt:lpstr>Times New Roman</vt:lpstr>
      <vt:lpstr>Office Theme</vt:lpstr>
      <vt:lpstr>Homiletic Method</vt:lpstr>
      <vt:lpstr>Homiletic Method – Objective</vt:lpstr>
      <vt:lpstr>Homiletic Method – Preaching as an Art</vt:lpstr>
      <vt:lpstr>Homiletic Method – Overview</vt:lpstr>
      <vt:lpstr>Homiletic Method – Fundamental Steps</vt:lpstr>
      <vt:lpstr>Reading, Listening, Praying</vt:lpstr>
      <vt:lpstr>Reading, Listening, Praying (continued)</vt:lpstr>
      <vt:lpstr>Study and Further Reflection</vt:lpstr>
      <vt:lpstr>Letting Go</vt:lpstr>
      <vt:lpstr>Drafting</vt:lpstr>
      <vt:lpstr>Drafting – Literary Elements</vt:lpstr>
      <vt:lpstr>Drafting – Use of Artificial Intelligence</vt:lpstr>
      <vt:lpstr>Revising</vt:lpstr>
      <vt:lpstr>Revising (continued)</vt:lpstr>
      <vt:lpstr>Practicing</vt:lpstr>
      <vt:lpstr>Homily Preparation Group</vt:lpstr>
      <vt:lpstr>Non-Negotiables</vt:lpstr>
      <vt:lpstr>PowerPoint Presentation</vt:lpstr>
    </vt:vector>
  </TitlesOfParts>
  <Company>St. Mary Cathedral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Baptism and Confirmation</dc:title>
  <dc:subject>Sacraments of Initiation</dc:subject>
  <dc:creator>Deacon Dan Tomich</dc:creator>
  <cp:lastModifiedBy>Tomich, Dan</cp:lastModifiedBy>
  <cp:revision>200</cp:revision>
  <cp:lastPrinted>2020-03-10T02:36:53Z</cp:lastPrinted>
  <dcterms:created xsi:type="dcterms:W3CDTF">2017-01-15T19:28:52Z</dcterms:created>
  <dcterms:modified xsi:type="dcterms:W3CDTF">2026-08-27T19:53:03Z</dcterms:modified>
</cp:coreProperties>
</file>